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12"/>
    <p:sldId id="259" r:id="rId13"/>
    <p:sldId id="260" r:id="rId14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22" autoAdjust="0"/>
  </p:normalViewPr>
  <p:slideViewPr>
    <p:cSldViewPr>
      <p:cViewPr varScale="1">
        <p:scale>
          <a:sx n="39" d="100"/>
          <a:sy n="39" d="100"/>
        </p:scale>
        <p:origin x="95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77133" y="191729"/>
            <a:ext cx="2004384" cy="811159"/>
            <a:chOff x="0" y="0"/>
            <a:chExt cx="2672512" cy="1081545"/>
          </a:xfrm>
        </p:grpSpPr>
        <p:sp>
          <p:nvSpPr>
            <p:cNvPr id="3" name="Freeform 3" descr="A picture containing text, clipart  Description automatically generated"/>
            <p:cNvSpPr/>
            <p:nvPr/>
          </p:nvSpPr>
          <p:spPr>
            <a:xfrm>
              <a:off x="0" y="0"/>
              <a:ext cx="2672461" cy="1081532"/>
            </a:xfrm>
            <a:custGeom>
              <a:avLst/>
              <a:gdLst/>
              <a:ahLst/>
              <a:cxnLst/>
              <a:rect l="l" t="t" r="r" b="b"/>
              <a:pathLst>
                <a:path w="2672461" h="1081532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695" r="-8057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02000" y="225704"/>
            <a:ext cx="2071868" cy="1024357"/>
            <a:chOff x="0" y="0"/>
            <a:chExt cx="2762491" cy="13658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62504" cy="1365758"/>
            </a:xfrm>
            <a:custGeom>
              <a:avLst/>
              <a:gdLst/>
              <a:ahLst/>
              <a:cxnLst/>
              <a:rect l="l" t="t" r="r" b="b"/>
              <a:pathLst>
                <a:path w="2762504" h="1365758">
                  <a:moveTo>
                    <a:pt x="0" y="0"/>
                  </a:moveTo>
                  <a:lnTo>
                    <a:pt x="2762504" y="0"/>
                  </a:lnTo>
                  <a:lnTo>
                    <a:pt x="2762504" y="1365758"/>
                  </a:lnTo>
                  <a:lnTo>
                    <a:pt x="0" y="1365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48" y="189166"/>
            <a:ext cx="1314259" cy="2237518"/>
            <a:chOff x="0" y="0"/>
            <a:chExt cx="1752346" cy="2983357"/>
          </a:xfrm>
        </p:grpSpPr>
        <p:sp>
          <p:nvSpPr>
            <p:cNvPr id="7" name="Freeform 7" descr="A picture containing text, sign, outdoor  Description automatically generated"/>
            <p:cNvSpPr/>
            <p:nvPr/>
          </p:nvSpPr>
          <p:spPr>
            <a:xfrm>
              <a:off x="0" y="0"/>
              <a:ext cx="1752346" cy="2983357"/>
            </a:xfrm>
            <a:custGeom>
              <a:avLst/>
              <a:gdLst/>
              <a:ahLst/>
              <a:cxnLst/>
              <a:rect l="l" t="t" r="r" b="b"/>
              <a:pathLst>
                <a:path w="1752346" h="2983357">
                  <a:moveTo>
                    <a:pt x="0" y="0"/>
                  </a:moveTo>
                  <a:lnTo>
                    <a:pt x="1752346" y="0"/>
                  </a:lnTo>
                  <a:lnTo>
                    <a:pt x="1752346" y="2983357"/>
                  </a:lnTo>
                  <a:lnTo>
                    <a:pt x="0" y="298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8" b="-1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23571" y="215532"/>
            <a:ext cx="6650298" cy="2147830"/>
            <a:chOff x="0" y="0"/>
            <a:chExt cx="8867064" cy="2863774"/>
          </a:xfrm>
        </p:grpSpPr>
        <p:sp>
          <p:nvSpPr>
            <p:cNvPr id="9" name="Freeform 9" descr="A picture containing text, clipart  Description automatically generated"/>
            <p:cNvSpPr/>
            <p:nvPr/>
          </p:nvSpPr>
          <p:spPr>
            <a:xfrm>
              <a:off x="0" y="0"/>
              <a:ext cx="8867013" cy="2863723"/>
            </a:xfrm>
            <a:custGeom>
              <a:avLst/>
              <a:gdLst/>
              <a:ahLst/>
              <a:cxnLst/>
              <a:rect l="l" t="t" r="r" b="b"/>
              <a:pathLst>
                <a:path w="8867013" h="2863723">
                  <a:moveTo>
                    <a:pt x="0" y="0"/>
                  </a:moveTo>
                  <a:lnTo>
                    <a:pt x="8867013" y="0"/>
                  </a:lnTo>
                  <a:lnTo>
                    <a:pt x="8867013" y="2863723"/>
                  </a:lnTo>
                  <a:lnTo>
                    <a:pt x="0" y="2863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503" b="-1650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010400" y="2363324"/>
            <a:ext cx="4267199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5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331" y="4050887"/>
            <a:ext cx="16439969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EMERGENCE- AN INTELLIGENT CLASSROOM LEARNING SYSTEM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88" y="7744968"/>
            <a:ext cx="8963606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Mohit Kumar Yadav</a:t>
            </a: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B. Tech CSE AIML Batch-2 </a:t>
            </a: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  <a:r>
              <a:rPr lang="en-US" sz="2700" b="1" baseline="300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rd</a:t>
            </a: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Year</a:t>
            </a: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500122588</a:t>
            </a: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873982" y="7676788"/>
            <a:ext cx="8399764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Anil Kumar</a:t>
            </a: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Cluster Head : AI</a:t>
            </a:r>
          </a:p>
          <a:p>
            <a:pPr algn="l">
              <a:lnSpc>
                <a:spcPts val="3240"/>
              </a:lnSpc>
            </a:pPr>
            <a:r>
              <a:rPr lang="en-US" sz="27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SoCS</a:t>
            </a: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UPES Dehradun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844" y="108318"/>
            <a:ext cx="18040483" cy="10070373"/>
            <a:chOff x="0" y="0"/>
            <a:chExt cx="24053978" cy="134271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53927" cy="13427202"/>
            </a:xfrm>
            <a:custGeom>
              <a:avLst/>
              <a:gdLst/>
              <a:ahLst/>
              <a:cxnLst/>
              <a:rect l="l" t="t" r="r" b="b"/>
              <a:pathLst>
                <a:path w="24053927" h="13427202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77133" y="191729"/>
            <a:ext cx="2004384" cy="811159"/>
            <a:chOff x="0" y="0"/>
            <a:chExt cx="2672512" cy="1081545"/>
          </a:xfrm>
        </p:grpSpPr>
        <p:sp>
          <p:nvSpPr>
            <p:cNvPr id="5" name="Freeform 5" descr="A picture containing text, clipart  Description automatically generated"/>
            <p:cNvSpPr/>
            <p:nvPr/>
          </p:nvSpPr>
          <p:spPr>
            <a:xfrm>
              <a:off x="0" y="0"/>
              <a:ext cx="2672461" cy="1081532"/>
            </a:xfrm>
            <a:custGeom>
              <a:avLst/>
              <a:gdLst/>
              <a:ahLst/>
              <a:cxnLst/>
              <a:rect l="l" t="t" r="r" b="b"/>
              <a:pathLst>
                <a:path w="2672461" h="1081532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695" r="-8057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0330" y="390087"/>
            <a:ext cx="11112665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46B0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4074" y="1166746"/>
            <a:ext cx="6792687" cy="943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 Chart</a:t>
            </a:r>
          </a:p>
          <a:p>
            <a:pPr marL="651505" lvl="1" indent="-325752" algn="l">
              <a:lnSpc>
                <a:spcPts val="6479"/>
              </a:lnSpc>
              <a:buAutoNum type="arabicPeriod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>
              <a:lnSpc>
                <a:spcPts val="6479"/>
              </a:lnSpc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10. References</a:t>
            </a:r>
          </a:p>
          <a:p>
            <a:pPr marL="651505" lvl="1" indent="-325752" algn="l">
              <a:lnSpc>
                <a:spcPts val="4319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1505" lvl="1" indent="-325752" algn="l">
              <a:lnSpc>
                <a:spcPts val="4319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The New Era of Teaching: Predictive Intelligence</a:t>
            </a:r>
          </a:p>
        </p:txBody>
      </p:sp>
      <p:pic>
        <p:nvPicPr>
          <p:cNvPr id="3" name="Picture 2" descr="landing_page_17779157839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90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Times New Roman"/>
              </a:defRPr>
            </a:pPr>
            <a:r>
              <a:t>EMERGENCE utilizes state-of-the-art vision models to map out student behavior and engagement across the classroom, wrapped in a premium, accessible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Automated Profiling &amp; Leaderboards</a:t>
            </a:r>
          </a:p>
        </p:txBody>
      </p:sp>
      <p:pic>
        <p:nvPicPr>
          <p:cNvPr id="3" name="Picture 2" descr="dashboard_final_17779158619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90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Times New Roman"/>
              </a:defRPr>
            </a:pPr>
            <a:r>
              <a:t>The system calculates student profiling on a daily basis, fusing real-time vision metrics with academic test scores to dynamically categorize students into Excelling, Developing, and Struggling cohorts.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Adaptive Curriculum Generation</a:t>
            </a:r>
          </a:p>
        </p:txBody>
      </p:sp>
      <p:pic>
        <p:nvPicPr>
          <p:cNvPr id="3" name="Picture 2" descr="modules_page_1777915854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90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Times New Roman"/>
              </a:defRPr>
            </a:pPr>
            <a:r>
              <a:t>Powered by DeepSeek V3 and MiniMax M2.5, EMERGENCE autonomously generates hyper-personalized pedagogical interventions tailored to the specific needs of each performance cluster.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1512</Words>
  <Application>Microsoft Office PowerPoint</Application>
  <PresentationFormat>Custom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Arial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EMERGENCE- AN INTELLIGENT CLASSROOM LEARNING SYSTEM</dc:title>
  <cp:lastModifiedBy>MohitSumit® Bros.</cp:lastModifiedBy>
  <cp:revision>3</cp:revision>
  <dcterms:created xsi:type="dcterms:W3CDTF">2006-08-16T00:00:00Z</dcterms:created>
  <dcterms:modified xsi:type="dcterms:W3CDTF">2026-02-11T07:51:12Z</dcterms:modified>
  <dc:identifier>DAHA7Wqqm34</dc:identifier>
</cp:coreProperties>
</file>