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0" r:id="rId8"/>
    <p:sldId id="262" r:id="rId9"/>
    <p:sldId id="263" r:id="rId10"/>
    <p:sldId id="264" r:id="rId11"/>
    <p:sldId id="265" r:id="rId12"/>
    <p:sldId id="269" r:id="rId13"/>
    <p:sldId id="266" r:id="rId14"/>
    <p:sldId id="267" r:id="rId15"/>
    <p:sldId id="268" r:id="rId16"/>
  </p:sldIdLst>
  <p:sldSz cx="18288000" cy="10287000"/>
  <p:notesSz cx="6858000" cy="9144000"/>
  <p:embeddedFontLst>
    <p:embeddedFont>
      <p:font typeface="Arial Bold" panose="020B0704020202020204" pitchFamily="34" charset="0"/>
      <p:regular r:id="rId17"/>
      <p:bold r:id="rId18"/>
    </p:embeddedFont>
    <p:embeddedFont>
      <p:font typeface="Times New Roman Bold" panose="02020803070505020304" pitchFamily="18"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22" autoAdjust="0"/>
  </p:normalViewPr>
  <p:slideViewPr>
    <p:cSldViewPr>
      <p:cViewPr varScale="1">
        <p:scale>
          <a:sx n="39" d="100"/>
          <a:sy n="39" d="100"/>
        </p:scale>
        <p:origin x="95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077133" y="191729"/>
            <a:ext cx="2004384" cy="811159"/>
            <a:chOff x="0" y="0"/>
            <a:chExt cx="2672512" cy="1081545"/>
          </a:xfrm>
        </p:grpSpPr>
        <p:sp>
          <p:nvSpPr>
            <p:cNvPr id="3" name="Freeform 3"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grpSp>
        <p:nvGrpSpPr>
          <p:cNvPr id="4" name="Group 4"/>
          <p:cNvGrpSpPr/>
          <p:nvPr/>
        </p:nvGrpSpPr>
        <p:grpSpPr>
          <a:xfrm>
            <a:off x="16002000" y="225704"/>
            <a:ext cx="2071868" cy="1024357"/>
            <a:chOff x="0" y="0"/>
            <a:chExt cx="2762491" cy="1365809"/>
          </a:xfrm>
        </p:grpSpPr>
        <p:sp>
          <p:nvSpPr>
            <p:cNvPr id="5" name="Freeform 5"/>
            <p:cNvSpPr/>
            <p:nvPr/>
          </p:nvSpPr>
          <p:spPr>
            <a:xfrm>
              <a:off x="0" y="0"/>
              <a:ext cx="2762504" cy="1365758"/>
            </a:xfrm>
            <a:custGeom>
              <a:avLst/>
              <a:gdLst/>
              <a:ahLst/>
              <a:cxnLst/>
              <a:rect l="l" t="t" r="r" b="b"/>
              <a:pathLst>
                <a:path w="2762504" h="1365758">
                  <a:moveTo>
                    <a:pt x="0" y="0"/>
                  </a:moveTo>
                  <a:lnTo>
                    <a:pt x="2762504" y="0"/>
                  </a:lnTo>
                  <a:lnTo>
                    <a:pt x="2762504" y="1365758"/>
                  </a:lnTo>
                  <a:lnTo>
                    <a:pt x="0" y="1365758"/>
                  </a:lnTo>
                  <a:close/>
                </a:path>
              </a:pathLst>
            </a:custGeom>
            <a:solidFill>
              <a:srgbClr val="FFFFFF"/>
            </a:solidFill>
          </p:spPr>
          <p:txBody>
            <a:bodyPr/>
            <a:lstStyle/>
            <a:p>
              <a:endParaRPr lang="en-IN"/>
            </a:p>
          </p:txBody>
        </p:sp>
      </p:grpSp>
      <p:grpSp>
        <p:nvGrpSpPr>
          <p:cNvPr id="6" name="Group 6"/>
          <p:cNvGrpSpPr/>
          <p:nvPr/>
        </p:nvGrpSpPr>
        <p:grpSpPr>
          <a:xfrm>
            <a:off x="457248" y="189166"/>
            <a:ext cx="1314259" cy="2237518"/>
            <a:chOff x="0" y="0"/>
            <a:chExt cx="1752346" cy="2983357"/>
          </a:xfrm>
        </p:grpSpPr>
        <p:sp>
          <p:nvSpPr>
            <p:cNvPr id="7" name="Freeform 7" descr="A picture containing text, sign, outdoor  Description automatically generated"/>
            <p:cNvSpPr/>
            <p:nvPr/>
          </p:nvSpPr>
          <p:spPr>
            <a:xfrm>
              <a:off x="0" y="0"/>
              <a:ext cx="1752346" cy="2983357"/>
            </a:xfrm>
            <a:custGeom>
              <a:avLst/>
              <a:gdLst/>
              <a:ahLst/>
              <a:cxnLst/>
              <a:rect l="l" t="t" r="r" b="b"/>
              <a:pathLst>
                <a:path w="1752346" h="2983357">
                  <a:moveTo>
                    <a:pt x="0" y="0"/>
                  </a:moveTo>
                  <a:lnTo>
                    <a:pt x="1752346" y="0"/>
                  </a:lnTo>
                  <a:lnTo>
                    <a:pt x="1752346" y="2983357"/>
                  </a:lnTo>
                  <a:lnTo>
                    <a:pt x="0" y="2983357"/>
                  </a:lnTo>
                  <a:lnTo>
                    <a:pt x="0" y="0"/>
                  </a:lnTo>
                  <a:close/>
                </a:path>
              </a:pathLst>
            </a:custGeom>
            <a:blipFill>
              <a:blip r:embed="rId3"/>
              <a:stretch>
                <a:fillRect t="-118" b="-117"/>
              </a:stretch>
            </a:blipFill>
          </p:spPr>
          <p:txBody>
            <a:bodyPr/>
            <a:lstStyle/>
            <a:p>
              <a:endParaRPr lang="en-IN"/>
            </a:p>
          </p:txBody>
        </p:sp>
      </p:grpSp>
      <p:grpSp>
        <p:nvGrpSpPr>
          <p:cNvPr id="8" name="Group 8"/>
          <p:cNvGrpSpPr/>
          <p:nvPr/>
        </p:nvGrpSpPr>
        <p:grpSpPr>
          <a:xfrm>
            <a:off x="11423571" y="215532"/>
            <a:ext cx="6650298" cy="2147830"/>
            <a:chOff x="0" y="0"/>
            <a:chExt cx="8867064" cy="2863774"/>
          </a:xfrm>
        </p:grpSpPr>
        <p:sp>
          <p:nvSpPr>
            <p:cNvPr id="9" name="Freeform 9" descr="A picture containing text, clipart  Description automatically generated"/>
            <p:cNvSpPr/>
            <p:nvPr/>
          </p:nvSpPr>
          <p:spPr>
            <a:xfrm>
              <a:off x="0" y="0"/>
              <a:ext cx="8867013" cy="2863723"/>
            </a:xfrm>
            <a:custGeom>
              <a:avLst/>
              <a:gdLst/>
              <a:ahLst/>
              <a:cxnLst/>
              <a:rect l="l" t="t" r="r" b="b"/>
              <a:pathLst>
                <a:path w="8867013" h="2863723">
                  <a:moveTo>
                    <a:pt x="0" y="0"/>
                  </a:moveTo>
                  <a:lnTo>
                    <a:pt x="8867013" y="0"/>
                  </a:lnTo>
                  <a:lnTo>
                    <a:pt x="8867013" y="2863723"/>
                  </a:lnTo>
                  <a:lnTo>
                    <a:pt x="0" y="2863723"/>
                  </a:lnTo>
                  <a:lnTo>
                    <a:pt x="0" y="0"/>
                  </a:lnTo>
                  <a:close/>
                </a:path>
              </a:pathLst>
            </a:custGeom>
            <a:blipFill>
              <a:blip r:embed="rId2"/>
              <a:stretch>
                <a:fillRect t="-16503" b="-16504"/>
              </a:stretch>
            </a:blipFill>
          </p:spPr>
          <p:txBody>
            <a:bodyPr/>
            <a:lstStyle/>
            <a:p>
              <a:endParaRPr lang="en-IN"/>
            </a:p>
          </p:txBody>
        </p:sp>
      </p:grpSp>
      <p:sp>
        <p:nvSpPr>
          <p:cNvPr id="10" name="TextBox 10"/>
          <p:cNvSpPr txBox="1"/>
          <p:nvPr/>
        </p:nvSpPr>
        <p:spPr>
          <a:xfrm>
            <a:off x="7010400" y="2363324"/>
            <a:ext cx="4267199" cy="872034"/>
          </a:xfrm>
          <a:prstGeom prst="rect">
            <a:avLst/>
          </a:prstGeom>
        </p:spPr>
        <p:txBody>
          <a:bodyPr wrap="square" lIns="0" tIns="0" rIns="0" bIns="0" rtlCol="0" anchor="t">
            <a:spAutoFit/>
          </a:bodyPr>
          <a:lstStyle/>
          <a:p>
            <a:pPr algn="l">
              <a:lnSpc>
                <a:spcPts val="6840"/>
              </a:lnSpc>
            </a:pPr>
            <a:r>
              <a:rPr lang="en-US" sz="5700" dirty="0">
                <a:solidFill>
                  <a:srgbClr val="000000"/>
                </a:solidFill>
                <a:latin typeface="Times New Roman"/>
                <a:ea typeface="Times New Roman"/>
                <a:cs typeface="Times New Roman"/>
                <a:sym typeface="Times New Roman"/>
              </a:rPr>
              <a:t>Minor Project</a:t>
            </a:r>
          </a:p>
        </p:txBody>
      </p:sp>
      <p:sp>
        <p:nvSpPr>
          <p:cNvPr id="11" name="TextBox 11"/>
          <p:cNvSpPr txBox="1"/>
          <p:nvPr/>
        </p:nvSpPr>
        <p:spPr>
          <a:xfrm>
            <a:off x="819331" y="4050887"/>
            <a:ext cx="16439969" cy="1476375"/>
          </a:xfrm>
          <a:prstGeom prst="rect">
            <a:avLst/>
          </a:prstGeom>
        </p:spPr>
        <p:txBody>
          <a:bodyPr lIns="0" tIns="0" rIns="0" bIns="0" rtlCol="0" anchor="t">
            <a:spAutoFit/>
          </a:bodyPr>
          <a:lstStyle/>
          <a:p>
            <a:pPr algn="ctr">
              <a:lnSpc>
                <a:spcPts val="5759"/>
              </a:lnSpc>
            </a:pPr>
            <a:r>
              <a:rPr lang="en-US" sz="4800" dirty="0">
                <a:solidFill>
                  <a:srgbClr val="000000"/>
                </a:solidFill>
                <a:latin typeface="Times New Roman"/>
                <a:ea typeface="Times New Roman"/>
                <a:cs typeface="Times New Roman"/>
                <a:sym typeface="Times New Roman"/>
              </a:rPr>
              <a:t>EMERGENCE- AN INTELLIGENT CLASSROOM LEARNING SYSTEM </a:t>
            </a:r>
          </a:p>
        </p:txBody>
      </p:sp>
      <p:sp>
        <p:nvSpPr>
          <p:cNvPr id="12" name="TextBox 12"/>
          <p:cNvSpPr txBox="1"/>
          <p:nvPr/>
        </p:nvSpPr>
        <p:spPr>
          <a:xfrm>
            <a:off x="548688" y="7744968"/>
            <a:ext cx="8963606" cy="3282950"/>
          </a:xfrm>
          <a:prstGeom prst="rect">
            <a:avLst/>
          </a:prstGeom>
        </p:spPr>
        <p:txBody>
          <a:bodyPr lIns="0" tIns="0" rIns="0" bIns="0" rtlCol="0" anchor="t">
            <a:spAutoFit/>
          </a:bodyPr>
          <a:lstStyle/>
          <a:p>
            <a:pPr algn="l">
              <a:lnSpc>
                <a:spcPts val="3240"/>
              </a:lnSpc>
            </a:pPr>
            <a:r>
              <a:rPr lang="en-US" sz="2700" b="1" dirty="0">
                <a:solidFill>
                  <a:srgbClr val="000000"/>
                </a:solidFill>
                <a:latin typeface="Times New Roman Bold"/>
                <a:ea typeface="Times New Roman Bold"/>
                <a:cs typeface="Times New Roman Bold"/>
                <a:sym typeface="Times New Roman Bold"/>
              </a:rPr>
              <a:t>Presented by:</a:t>
            </a:r>
          </a:p>
          <a:p>
            <a:pPr algn="l">
              <a:lnSpc>
                <a:spcPts val="3240"/>
              </a:lnSpc>
            </a:pPr>
            <a:endParaRPr lang="en-US" sz="2700" b="1" dirty="0">
              <a:solidFill>
                <a:srgbClr val="000000"/>
              </a:solidFill>
              <a:latin typeface="Times New Roman Bold"/>
              <a:ea typeface="Times New Roman Bold"/>
              <a:cs typeface="Times New Roman Bold"/>
              <a:sym typeface="Times New Roman Bold"/>
            </a:endParaRPr>
          </a:p>
          <a:p>
            <a:pPr algn="l">
              <a:lnSpc>
                <a:spcPts val="3240"/>
              </a:lnSpc>
            </a:pPr>
            <a:r>
              <a:rPr lang="en-US" sz="2700" b="1" dirty="0">
                <a:solidFill>
                  <a:srgbClr val="000000"/>
                </a:solidFill>
                <a:latin typeface="Times New Roman Bold"/>
                <a:ea typeface="Times New Roman Bold"/>
                <a:cs typeface="Times New Roman Bold"/>
                <a:sym typeface="Times New Roman Bold"/>
              </a:rPr>
              <a:t>Mohit Kumar Yadav</a:t>
            </a:r>
          </a:p>
          <a:p>
            <a:pPr algn="l">
              <a:lnSpc>
                <a:spcPts val="3240"/>
              </a:lnSpc>
            </a:pPr>
            <a:r>
              <a:rPr lang="en-US" sz="2700" b="1" dirty="0">
                <a:solidFill>
                  <a:srgbClr val="000000"/>
                </a:solidFill>
                <a:latin typeface="Times New Roman Bold"/>
                <a:ea typeface="Times New Roman Bold"/>
                <a:cs typeface="Times New Roman Bold"/>
                <a:sym typeface="Times New Roman Bold"/>
              </a:rPr>
              <a:t>B. Tech CSE AIML Batch-2 </a:t>
            </a:r>
          </a:p>
          <a:p>
            <a:pPr algn="l">
              <a:lnSpc>
                <a:spcPts val="3240"/>
              </a:lnSpc>
            </a:pPr>
            <a:r>
              <a:rPr lang="en-US" sz="2700" b="1" dirty="0">
                <a:solidFill>
                  <a:srgbClr val="000000"/>
                </a:solidFill>
                <a:latin typeface="Times New Roman Bold"/>
                <a:ea typeface="Times New Roman Bold"/>
                <a:cs typeface="Times New Roman Bold"/>
                <a:sym typeface="Times New Roman Bold"/>
              </a:rPr>
              <a:t>3</a:t>
            </a:r>
            <a:r>
              <a:rPr lang="en-US" sz="2700" b="1" baseline="30000" dirty="0">
                <a:solidFill>
                  <a:srgbClr val="000000"/>
                </a:solidFill>
                <a:latin typeface="Times New Roman Bold"/>
                <a:ea typeface="Times New Roman Bold"/>
                <a:cs typeface="Times New Roman Bold"/>
                <a:sym typeface="Times New Roman Bold"/>
              </a:rPr>
              <a:t>rd</a:t>
            </a:r>
            <a:r>
              <a:rPr lang="en-US" sz="2700" b="1" dirty="0">
                <a:solidFill>
                  <a:srgbClr val="000000"/>
                </a:solidFill>
                <a:latin typeface="Times New Roman Bold"/>
                <a:ea typeface="Times New Roman Bold"/>
                <a:cs typeface="Times New Roman Bold"/>
                <a:sym typeface="Times New Roman Bold"/>
              </a:rPr>
              <a:t> Year</a:t>
            </a:r>
          </a:p>
          <a:p>
            <a:pPr algn="l">
              <a:lnSpc>
                <a:spcPts val="3240"/>
              </a:lnSpc>
            </a:pPr>
            <a:r>
              <a:rPr lang="en-US" sz="2700" b="1" dirty="0">
                <a:solidFill>
                  <a:srgbClr val="000000"/>
                </a:solidFill>
                <a:latin typeface="Times New Roman Bold"/>
                <a:ea typeface="Times New Roman Bold"/>
                <a:cs typeface="Times New Roman Bold"/>
                <a:sym typeface="Times New Roman Bold"/>
              </a:rPr>
              <a:t>500122588</a:t>
            </a:r>
          </a:p>
          <a:p>
            <a:pPr algn="l">
              <a:lnSpc>
                <a:spcPts val="3240"/>
              </a:lnSpc>
            </a:pPr>
            <a:endParaRPr lang="en-US" sz="2700" b="1" dirty="0">
              <a:solidFill>
                <a:srgbClr val="000000"/>
              </a:solidFill>
              <a:latin typeface="Times New Roman Bold"/>
              <a:ea typeface="Times New Roman Bold"/>
              <a:cs typeface="Times New Roman Bold"/>
              <a:sym typeface="Times New Roman Bold"/>
            </a:endParaRPr>
          </a:p>
          <a:p>
            <a:pPr algn="l">
              <a:lnSpc>
                <a:spcPts val="3240"/>
              </a:lnSpc>
            </a:pPr>
            <a:endParaRPr lang="en-US" sz="2700" b="1" dirty="0">
              <a:solidFill>
                <a:srgbClr val="000000"/>
              </a:solidFill>
              <a:latin typeface="Times New Roman Bold"/>
              <a:ea typeface="Times New Roman Bold"/>
              <a:cs typeface="Times New Roman Bold"/>
              <a:sym typeface="Times New Roman Bold"/>
            </a:endParaRPr>
          </a:p>
        </p:txBody>
      </p:sp>
      <p:sp>
        <p:nvSpPr>
          <p:cNvPr id="13" name="TextBox 13"/>
          <p:cNvSpPr txBox="1"/>
          <p:nvPr/>
        </p:nvSpPr>
        <p:spPr>
          <a:xfrm>
            <a:off x="13873982" y="7676788"/>
            <a:ext cx="8399764" cy="2051844"/>
          </a:xfrm>
          <a:prstGeom prst="rect">
            <a:avLst/>
          </a:prstGeom>
        </p:spPr>
        <p:txBody>
          <a:bodyPr lIns="0" tIns="0" rIns="0" bIns="0" rtlCol="0" anchor="t">
            <a:spAutoFit/>
          </a:bodyPr>
          <a:lstStyle/>
          <a:p>
            <a:pPr algn="l">
              <a:lnSpc>
                <a:spcPts val="3240"/>
              </a:lnSpc>
            </a:pPr>
            <a:r>
              <a:rPr lang="en-US" sz="2700" b="1" dirty="0">
                <a:solidFill>
                  <a:srgbClr val="000000"/>
                </a:solidFill>
                <a:latin typeface="Times New Roman Bold"/>
                <a:ea typeface="Times New Roman Bold"/>
                <a:cs typeface="Times New Roman Bold"/>
                <a:sym typeface="Times New Roman Bold"/>
              </a:rPr>
              <a:t>Guided by:</a:t>
            </a:r>
          </a:p>
          <a:p>
            <a:pPr algn="l">
              <a:lnSpc>
                <a:spcPts val="3240"/>
              </a:lnSpc>
            </a:pPr>
            <a:endParaRPr lang="en-US" sz="2700" b="1" dirty="0">
              <a:solidFill>
                <a:srgbClr val="000000"/>
              </a:solidFill>
              <a:latin typeface="Times New Roman Bold"/>
              <a:ea typeface="Times New Roman Bold"/>
              <a:cs typeface="Times New Roman Bold"/>
              <a:sym typeface="Times New Roman Bold"/>
            </a:endParaRPr>
          </a:p>
          <a:p>
            <a:pPr algn="l">
              <a:lnSpc>
                <a:spcPts val="3240"/>
              </a:lnSpc>
            </a:pPr>
            <a:r>
              <a:rPr lang="en-US" sz="2700" b="1" dirty="0">
                <a:solidFill>
                  <a:srgbClr val="000000"/>
                </a:solidFill>
                <a:latin typeface="Times New Roman Bold"/>
                <a:ea typeface="Times New Roman Bold"/>
                <a:cs typeface="Times New Roman Bold"/>
                <a:sym typeface="Times New Roman Bold"/>
              </a:rPr>
              <a:t>Dr. Anil Kumar</a:t>
            </a:r>
          </a:p>
          <a:p>
            <a:pPr algn="l">
              <a:lnSpc>
                <a:spcPts val="3240"/>
              </a:lnSpc>
            </a:pPr>
            <a:r>
              <a:rPr lang="en-US" sz="2700" b="1" dirty="0">
                <a:solidFill>
                  <a:srgbClr val="000000"/>
                </a:solidFill>
                <a:latin typeface="Times New Roman Bold"/>
                <a:ea typeface="Times New Roman Bold"/>
                <a:cs typeface="Times New Roman Bold"/>
                <a:sym typeface="Times New Roman Bold"/>
              </a:rPr>
              <a:t>Cluster Head : AI</a:t>
            </a:r>
          </a:p>
          <a:p>
            <a:pPr algn="l">
              <a:lnSpc>
                <a:spcPts val="3240"/>
              </a:lnSpc>
            </a:pPr>
            <a:r>
              <a:rPr lang="en-US" sz="2700" b="1" dirty="0" err="1">
                <a:solidFill>
                  <a:srgbClr val="000000"/>
                </a:solidFill>
                <a:latin typeface="Times New Roman Bold"/>
                <a:ea typeface="Times New Roman Bold"/>
                <a:cs typeface="Times New Roman Bold"/>
                <a:sym typeface="Times New Roman Bold"/>
              </a:rPr>
              <a:t>SoCS</a:t>
            </a:r>
            <a:r>
              <a:rPr lang="en-US" sz="2700" b="1" dirty="0">
                <a:solidFill>
                  <a:srgbClr val="000000"/>
                </a:solidFill>
                <a:latin typeface="Times New Roman Bold"/>
                <a:ea typeface="Times New Roman Bold"/>
                <a:cs typeface="Times New Roman Bold"/>
                <a:sym typeface="Times New Roman Bold"/>
              </a:rPr>
              <a:t>, UPES Dehradun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580330" y="390087"/>
            <a:ext cx="11112665" cy="814302"/>
          </a:xfrm>
          <a:prstGeom prst="rect">
            <a:avLst/>
          </a:prstGeom>
        </p:spPr>
        <p:txBody>
          <a:bodyPr lIns="0" tIns="0" rIns="0" bIns="0" rtlCol="0" anchor="t">
            <a:spAutoFit/>
          </a:bodyPr>
          <a:lstStyle/>
          <a:p>
            <a:pPr algn="l">
              <a:lnSpc>
                <a:spcPts val="5759"/>
              </a:lnSpc>
            </a:pPr>
            <a:r>
              <a:rPr lang="en-US" sz="4800" b="1">
                <a:solidFill>
                  <a:srgbClr val="46B0FA"/>
                </a:solidFill>
                <a:latin typeface="Times New Roman Bold"/>
                <a:ea typeface="Times New Roman Bold"/>
                <a:cs typeface="Times New Roman Bold"/>
                <a:sym typeface="Times New Roman Bold"/>
              </a:rPr>
              <a:t>Content</a:t>
            </a:r>
          </a:p>
        </p:txBody>
      </p:sp>
      <p:sp>
        <p:nvSpPr>
          <p:cNvPr id="7" name="TextBox 7"/>
          <p:cNvSpPr txBox="1"/>
          <p:nvPr/>
        </p:nvSpPr>
        <p:spPr>
          <a:xfrm>
            <a:off x="894074" y="1166746"/>
            <a:ext cx="6792687" cy="9438481"/>
          </a:xfrm>
          <a:prstGeom prst="rect">
            <a:avLst/>
          </a:prstGeom>
        </p:spPr>
        <p:txBody>
          <a:bodyPr lIns="0" tIns="0" rIns="0" bIns="0" rtlCol="0" anchor="t">
            <a:spAutoFit/>
          </a:bodyPr>
          <a:lstStyle/>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Abstract</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Introduction</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Literature Review </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Problem Statement</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Objective</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Methodology</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Flowchart</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Pert Chart</a:t>
            </a:r>
          </a:p>
          <a:p>
            <a:pPr marL="651505" lvl="1" indent="-325752" algn="l">
              <a:lnSpc>
                <a:spcPts val="6479"/>
              </a:lnSpc>
              <a:buAutoNum type="arabicPeriod"/>
            </a:pPr>
            <a:r>
              <a:rPr lang="en-US" sz="3599" dirty="0">
                <a:solidFill>
                  <a:srgbClr val="000000"/>
                </a:solidFill>
                <a:latin typeface="Times New Roman"/>
                <a:ea typeface="Times New Roman"/>
                <a:cs typeface="Times New Roman"/>
                <a:sym typeface="Times New Roman"/>
              </a:rPr>
              <a:t>Conclusion</a:t>
            </a:r>
          </a:p>
          <a:p>
            <a:pPr algn="l">
              <a:lnSpc>
                <a:spcPts val="6479"/>
              </a:lnSpc>
            </a:pPr>
            <a:r>
              <a:rPr lang="en-US" sz="3599" dirty="0">
                <a:solidFill>
                  <a:srgbClr val="000000"/>
                </a:solidFill>
                <a:latin typeface="Times New Roman"/>
                <a:ea typeface="Times New Roman"/>
                <a:cs typeface="Times New Roman"/>
                <a:sym typeface="Times New Roman"/>
              </a:rPr>
              <a:t>  10. References</a:t>
            </a:r>
          </a:p>
          <a:p>
            <a:pPr marL="651505" lvl="1" indent="-325752" algn="l">
              <a:lnSpc>
                <a:spcPts val="4319"/>
              </a:lnSpc>
            </a:pPr>
            <a:endParaRPr lang="en-US" sz="3599" dirty="0">
              <a:solidFill>
                <a:srgbClr val="000000"/>
              </a:solidFill>
              <a:latin typeface="Times New Roman"/>
              <a:ea typeface="Times New Roman"/>
              <a:cs typeface="Times New Roman"/>
              <a:sym typeface="Times New Roman"/>
            </a:endParaRPr>
          </a:p>
          <a:p>
            <a:pPr marL="651505" lvl="1" indent="-325752" algn="l">
              <a:lnSpc>
                <a:spcPts val="4319"/>
              </a:lnSpc>
            </a:pPr>
            <a:endParaRPr lang="en-US"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401138" y="974312"/>
            <a:ext cx="11112665" cy="14763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ABSTRACT</a:t>
            </a:r>
          </a:p>
          <a:p>
            <a:pPr algn="l">
              <a:lnSpc>
                <a:spcPts val="5759"/>
              </a:lnSpc>
            </a:pPr>
            <a:endParaRPr lang="en-US" sz="4800" b="1">
              <a:solidFill>
                <a:srgbClr val="000000"/>
              </a:solidFill>
              <a:latin typeface="Times New Roman Bold"/>
              <a:ea typeface="Times New Roman Bold"/>
              <a:cs typeface="Times New Roman Bold"/>
              <a:sym typeface="Times New Roman Bold"/>
            </a:endParaRPr>
          </a:p>
        </p:txBody>
      </p:sp>
      <p:sp>
        <p:nvSpPr>
          <p:cNvPr id="7" name="TextBox 7"/>
          <p:cNvSpPr txBox="1"/>
          <p:nvPr/>
        </p:nvSpPr>
        <p:spPr>
          <a:xfrm>
            <a:off x="401138" y="2470661"/>
            <a:ext cx="17491896" cy="6463308"/>
          </a:xfrm>
          <a:prstGeom prst="rect">
            <a:avLst/>
          </a:prstGeom>
        </p:spPr>
        <p:txBody>
          <a:bodyPr lIns="0" tIns="0" rIns="0" bIns="0" rtlCol="0" anchor="t">
            <a:spAutoFit/>
          </a:bodyPr>
          <a:lstStyle/>
          <a:p>
            <a:pPr>
              <a:lnSpc>
                <a:spcPts val="4200"/>
              </a:lnSpc>
              <a:spcBef>
                <a:spcPct val="0"/>
              </a:spcBef>
            </a:pPr>
            <a:r>
              <a:rPr lang="en-US" sz="3500" dirty="0">
                <a:solidFill>
                  <a:srgbClr val="000000"/>
                </a:solidFill>
                <a:latin typeface="Times New Roman"/>
                <a:ea typeface="Times New Roman"/>
                <a:cs typeface="Times New Roman"/>
                <a:sym typeface="Times New Roman"/>
              </a:rPr>
              <a:t>The </a:t>
            </a:r>
            <a:r>
              <a:rPr lang="en-US" sz="3500" b="1" dirty="0">
                <a:solidFill>
                  <a:srgbClr val="000000"/>
                </a:solidFill>
                <a:latin typeface="Times New Roman Bold"/>
                <a:ea typeface="Times New Roman"/>
                <a:cs typeface="Times New Roman Bold"/>
                <a:sym typeface="Times New Roman Bold"/>
              </a:rPr>
              <a:t>EMRGENCE- </a:t>
            </a:r>
            <a:r>
              <a:rPr lang="en-US" sz="3600" dirty="0">
                <a:solidFill>
                  <a:srgbClr val="000000"/>
                </a:solidFill>
                <a:latin typeface="Times New Roman"/>
                <a:ea typeface="Times New Roman"/>
                <a:cs typeface="Times New Roman"/>
                <a:sym typeface="Times New Roman"/>
              </a:rPr>
              <a:t>INTELLIGENT CLASSROOM LEARNING SYSTEM </a:t>
            </a:r>
            <a:r>
              <a:rPr lang="en-US" sz="3500" dirty="0">
                <a:solidFill>
                  <a:srgbClr val="000000"/>
                </a:solidFill>
                <a:latin typeface="Times New Roman"/>
                <a:ea typeface="Times New Roman"/>
                <a:cs typeface="Times New Roman"/>
                <a:sym typeface="Times New Roman"/>
              </a:rPr>
              <a:t>is an integrated AI architecture designed to transform traditional "one-size-fits-all" instruction into adaptive, student-centric education. </a:t>
            </a:r>
          </a:p>
          <a:p>
            <a:pPr algn="l">
              <a:lnSpc>
                <a:spcPts val="4200"/>
              </a:lnSpc>
              <a:spcBef>
                <a:spcPct val="0"/>
              </a:spcBef>
            </a:pPr>
            <a:endParaRPr lang="en-US" sz="3500" dirty="0">
              <a:solidFill>
                <a:srgbClr val="000000"/>
              </a:solidFill>
              <a:latin typeface="Times New Roman"/>
              <a:ea typeface="Times New Roman"/>
              <a:cs typeface="Times New Roman"/>
              <a:sym typeface="Times New Roman"/>
            </a:endParaRPr>
          </a:p>
          <a:p>
            <a:pPr algn="l">
              <a:lnSpc>
                <a:spcPts val="4200"/>
              </a:lnSpc>
              <a:spcBef>
                <a:spcPct val="0"/>
              </a:spcBef>
            </a:pPr>
            <a:r>
              <a:rPr lang="en-US" sz="3500" dirty="0">
                <a:solidFill>
                  <a:srgbClr val="000000"/>
                </a:solidFill>
                <a:latin typeface="Times New Roman"/>
                <a:ea typeface="Times New Roman"/>
                <a:cs typeface="Times New Roman"/>
                <a:sym typeface="Times New Roman"/>
              </a:rPr>
              <a:t>The system operates in three stages: </a:t>
            </a:r>
            <a:r>
              <a:rPr lang="en-US" sz="3500" b="1" dirty="0">
                <a:solidFill>
                  <a:srgbClr val="000000"/>
                </a:solidFill>
                <a:latin typeface="Times New Roman Bold"/>
                <a:ea typeface="Times New Roman Bold"/>
                <a:cs typeface="Times New Roman Bold"/>
                <a:sym typeface="Times New Roman Bold"/>
              </a:rPr>
              <a:t>Perception</a:t>
            </a:r>
            <a:r>
              <a:rPr lang="en-US" sz="3500" dirty="0">
                <a:solidFill>
                  <a:srgbClr val="000000"/>
                </a:solidFill>
                <a:latin typeface="Times New Roman"/>
                <a:ea typeface="Times New Roman"/>
                <a:cs typeface="Times New Roman"/>
                <a:sym typeface="Times New Roman"/>
              </a:rPr>
              <a:t>, </a:t>
            </a:r>
            <a:r>
              <a:rPr lang="en-US" sz="3500" b="1" dirty="0">
                <a:solidFill>
                  <a:srgbClr val="000000"/>
                </a:solidFill>
                <a:latin typeface="Times New Roman Bold"/>
                <a:ea typeface="Times New Roman Bold"/>
                <a:cs typeface="Times New Roman Bold"/>
                <a:sym typeface="Times New Roman Bold"/>
              </a:rPr>
              <a:t>Reasoning</a:t>
            </a:r>
            <a:r>
              <a:rPr lang="en-US" sz="3500" dirty="0">
                <a:solidFill>
                  <a:srgbClr val="000000"/>
                </a:solidFill>
                <a:latin typeface="Times New Roman"/>
                <a:ea typeface="Times New Roman"/>
                <a:cs typeface="Times New Roman"/>
                <a:sym typeface="Times New Roman"/>
              </a:rPr>
              <a:t>, and </a:t>
            </a:r>
            <a:r>
              <a:rPr lang="en-US" sz="3500" b="1" dirty="0">
                <a:solidFill>
                  <a:srgbClr val="000000"/>
                </a:solidFill>
                <a:latin typeface="Times New Roman Bold"/>
                <a:ea typeface="Times New Roman Bold"/>
                <a:cs typeface="Times New Roman Bold"/>
                <a:sym typeface="Times New Roman Bold"/>
              </a:rPr>
              <a:t>Generation</a:t>
            </a:r>
            <a:r>
              <a:rPr lang="en-US" sz="3500" dirty="0">
                <a:solidFill>
                  <a:srgbClr val="000000"/>
                </a:solidFill>
                <a:latin typeface="Times New Roman"/>
                <a:ea typeface="Times New Roman"/>
                <a:cs typeface="Times New Roman"/>
                <a:sym typeface="Times New Roman"/>
              </a:rPr>
              <a:t>. </a:t>
            </a:r>
          </a:p>
          <a:p>
            <a:pPr algn="l">
              <a:lnSpc>
                <a:spcPts val="4200"/>
              </a:lnSpc>
              <a:spcBef>
                <a:spcPct val="0"/>
              </a:spcBef>
            </a:pPr>
            <a:endParaRPr lang="en-US" sz="3500" dirty="0">
              <a:solidFill>
                <a:srgbClr val="000000"/>
              </a:solidFill>
              <a:latin typeface="Times New Roman"/>
              <a:ea typeface="Times New Roman"/>
              <a:cs typeface="Times New Roman"/>
              <a:sym typeface="Times New Roman"/>
            </a:endParaRPr>
          </a:p>
          <a:p>
            <a:pPr algn="l">
              <a:lnSpc>
                <a:spcPts val="4200"/>
              </a:lnSpc>
              <a:spcBef>
                <a:spcPct val="0"/>
              </a:spcBef>
            </a:pPr>
            <a:r>
              <a:rPr lang="en-US" sz="3500" dirty="0">
                <a:solidFill>
                  <a:srgbClr val="000000"/>
                </a:solidFill>
                <a:latin typeface="Times New Roman"/>
                <a:ea typeface="Times New Roman"/>
                <a:cs typeface="Times New Roman"/>
                <a:sym typeface="Times New Roman"/>
              </a:rPr>
              <a:t>By observing student engagement through computer vision (student detection, pose estimation, gaze tracking), reasoning over these behavioral signals using unsupervised machine learning (clustering), and generating personalized learning content via Large Language Models (LLMs), EMERGENCE provides a closed-loop solution for real-time educational adaptation. </a:t>
            </a:r>
          </a:p>
          <a:p>
            <a:pPr algn="l">
              <a:lnSpc>
                <a:spcPts val="4200"/>
              </a:lnSpc>
              <a:spcBef>
                <a:spcPct val="0"/>
              </a:spcBef>
            </a:pPr>
            <a:endParaRPr lang="en-US" sz="3500" dirty="0">
              <a:solidFill>
                <a:srgbClr val="000000"/>
              </a:solidFill>
              <a:latin typeface="Times New Roman"/>
              <a:ea typeface="Times New Roman"/>
              <a:cs typeface="Times New Roman"/>
              <a:sym typeface="Times New Roman"/>
            </a:endParaRPr>
          </a:p>
          <a:p>
            <a:pPr algn="l">
              <a:lnSpc>
                <a:spcPts val="4200"/>
              </a:lnSpc>
              <a:spcBef>
                <a:spcPct val="0"/>
              </a:spcBef>
            </a:pPr>
            <a:r>
              <a:rPr lang="en-US" sz="3500" dirty="0">
                <a:solidFill>
                  <a:srgbClr val="000000"/>
                </a:solidFill>
                <a:latin typeface="Times New Roman"/>
                <a:ea typeface="Times New Roman"/>
                <a:cs typeface="Times New Roman"/>
                <a:sym typeface="Times New Roman"/>
              </a:rPr>
              <a:t>This report details the system's design, implementation methodology, and operational flow.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509272" y="974312"/>
            <a:ext cx="5273133" cy="7524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INTRODUCTION</a:t>
            </a:r>
          </a:p>
        </p:txBody>
      </p:sp>
      <p:sp>
        <p:nvSpPr>
          <p:cNvPr id="7" name="TextBox 7"/>
          <p:cNvSpPr txBox="1"/>
          <p:nvPr/>
        </p:nvSpPr>
        <p:spPr>
          <a:xfrm>
            <a:off x="509272" y="2507796"/>
            <a:ext cx="17275629" cy="5895975"/>
          </a:xfrm>
          <a:prstGeom prst="rect">
            <a:avLst/>
          </a:prstGeom>
        </p:spPr>
        <p:txBody>
          <a:bodyPr lIns="0" tIns="0" rIns="0" bIns="0" rtlCol="0" anchor="t">
            <a:spAutoFit/>
          </a:bodyPr>
          <a:lstStyle/>
          <a:p>
            <a:pPr algn="l">
              <a:lnSpc>
                <a:spcPts val="4200"/>
              </a:lnSpc>
              <a:spcBef>
                <a:spcPct val="0"/>
              </a:spcBef>
            </a:pPr>
            <a:r>
              <a:rPr lang="en-US" sz="3500">
                <a:solidFill>
                  <a:srgbClr val="000000"/>
                </a:solidFill>
                <a:latin typeface="Times New Roman"/>
                <a:ea typeface="Times New Roman"/>
                <a:cs typeface="Times New Roman"/>
                <a:sym typeface="Times New Roman"/>
              </a:rPr>
              <a:t>Traditional classroom environments often struggle to address the diverse learning needs of every student. Teachers, constrained by limited bandwidth and resources, must deliver uniform content that may leave some students bored and others overwhelmed. The lack of real-time, objective feedback on student engagement further exacerbates this issue.</a:t>
            </a:r>
          </a:p>
          <a:p>
            <a:pPr algn="l">
              <a:lnSpc>
                <a:spcPts val="4200"/>
              </a:lnSpc>
              <a:spcBef>
                <a:spcPct val="0"/>
              </a:spcBef>
            </a:pPr>
            <a:endParaRPr lang="en-US" sz="3500">
              <a:solidFill>
                <a:srgbClr val="000000"/>
              </a:solidFill>
              <a:latin typeface="Times New Roman"/>
              <a:ea typeface="Times New Roman"/>
              <a:cs typeface="Times New Roman"/>
              <a:sym typeface="Times New Roman"/>
            </a:endParaRPr>
          </a:p>
          <a:p>
            <a:pPr algn="l">
              <a:lnSpc>
                <a:spcPts val="4200"/>
              </a:lnSpc>
              <a:spcBef>
                <a:spcPct val="0"/>
              </a:spcBef>
            </a:pPr>
            <a:r>
              <a:rPr lang="en-US" sz="3500" b="1">
                <a:solidFill>
                  <a:srgbClr val="000000"/>
                </a:solidFill>
                <a:latin typeface="Times New Roman Bold"/>
                <a:ea typeface="Times New Roman Bold"/>
                <a:cs typeface="Times New Roman Bold"/>
                <a:sym typeface="Times New Roman Bold"/>
              </a:rPr>
              <a:t>EMERGENCE</a:t>
            </a:r>
            <a:r>
              <a:rPr lang="en-US" sz="3500">
                <a:solidFill>
                  <a:srgbClr val="000000"/>
                </a:solidFill>
                <a:latin typeface="Times New Roman"/>
                <a:ea typeface="Times New Roman"/>
                <a:cs typeface="Times New Roman"/>
                <a:sym typeface="Times New Roman"/>
              </a:rPr>
              <a:t> addresses this gap by proposing a scalable, non-intrusive AI framework. It leverages standard classroom hardware (cameras) to capture behavioral cues—such as gaze direction, posture, and motion energy—to infer engagement levels. This data drives an analytical engine that identifies at-risk or highly engaged students and triggers a generative AI layer to produce tailored educational interventions, such as simplified explanations or advanced challenges, thereby democratizing personalized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660149" y="568733"/>
            <a:ext cx="13583298" cy="22002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LITERATURE REVIEW</a:t>
            </a:r>
          </a:p>
          <a:p>
            <a:pPr algn="l">
              <a:lnSpc>
                <a:spcPts val="5759"/>
              </a:lnSpc>
            </a:pPr>
            <a:endParaRPr lang="en-US" sz="4800" b="1">
              <a:solidFill>
                <a:srgbClr val="000000"/>
              </a:solidFill>
              <a:latin typeface="Times New Roman Bold"/>
              <a:ea typeface="Times New Roman Bold"/>
              <a:cs typeface="Times New Roman Bold"/>
              <a:sym typeface="Times New Roman Bold"/>
            </a:endParaRPr>
          </a:p>
          <a:p>
            <a:pPr algn="l">
              <a:lnSpc>
                <a:spcPts val="5759"/>
              </a:lnSpc>
            </a:pPr>
            <a:endParaRPr lang="en-US" sz="4800" b="1">
              <a:solidFill>
                <a:srgbClr val="000000"/>
              </a:solidFill>
              <a:latin typeface="Times New Roman Bold"/>
              <a:ea typeface="Times New Roman Bold"/>
              <a:cs typeface="Times New Roman Bold"/>
              <a:sym typeface="Times New Roman Bold"/>
            </a:endParaRPr>
          </a:p>
        </p:txBody>
      </p:sp>
      <p:sp>
        <p:nvSpPr>
          <p:cNvPr id="7" name="TextBox 7"/>
          <p:cNvSpPr txBox="1"/>
          <p:nvPr/>
        </p:nvSpPr>
        <p:spPr>
          <a:xfrm>
            <a:off x="1084391" y="1459911"/>
            <a:ext cx="16125390" cy="8178457"/>
          </a:xfrm>
          <a:prstGeom prst="rect">
            <a:avLst/>
          </a:prstGeom>
        </p:spPr>
        <p:txBody>
          <a:bodyPr lIns="0" tIns="0" rIns="0" bIns="0" rtlCol="0" anchor="t">
            <a:spAutoFit/>
          </a:bodyPr>
          <a:lstStyle/>
          <a:p>
            <a:pPr algn="l">
              <a:lnSpc>
                <a:spcPts val="3965"/>
              </a:lnSpc>
              <a:spcBef>
                <a:spcPct val="0"/>
              </a:spcBef>
            </a:pPr>
            <a:r>
              <a:rPr lang="en-US" sz="3304" dirty="0">
                <a:solidFill>
                  <a:srgbClr val="000000"/>
                </a:solidFill>
                <a:latin typeface="Times New Roman"/>
                <a:ea typeface="Times New Roman"/>
                <a:cs typeface="Times New Roman"/>
                <a:sym typeface="Times New Roman"/>
              </a:rPr>
              <a:t>The development of EMERGENCE interacts with three key domains of educational technology research:</a:t>
            </a:r>
          </a:p>
          <a:p>
            <a:pPr algn="l">
              <a:lnSpc>
                <a:spcPts val="3965"/>
              </a:lnSpc>
              <a:spcBef>
                <a:spcPct val="0"/>
              </a:spcBef>
            </a:pPr>
            <a:endParaRPr lang="en-US" sz="3304" dirty="0">
              <a:solidFill>
                <a:srgbClr val="000000"/>
              </a:solidFill>
              <a:latin typeface="Times New Roman"/>
              <a:ea typeface="Times New Roman"/>
              <a:cs typeface="Times New Roman"/>
              <a:sym typeface="Times New Roman"/>
            </a:endParaRPr>
          </a:p>
          <a:p>
            <a:pPr marL="713436" lvl="1" indent="-356718" algn="just">
              <a:lnSpc>
                <a:spcPts val="3965"/>
              </a:lnSpc>
              <a:buFont typeface="Arial"/>
              <a:buChar char="•"/>
            </a:pPr>
            <a:r>
              <a:rPr lang="en-US" sz="3304" b="1" dirty="0">
                <a:solidFill>
                  <a:srgbClr val="000000"/>
                </a:solidFill>
                <a:latin typeface="Times New Roman Bold"/>
                <a:ea typeface="Times New Roman Bold"/>
                <a:cs typeface="Times New Roman Bold"/>
                <a:sym typeface="Times New Roman Bold"/>
              </a:rPr>
              <a:t>Computer Vision</a:t>
            </a:r>
            <a:r>
              <a:rPr lang="en-US" sz="3304" dirty="0">
                <a:solidFill>
                  <a:srgbClr val="000000"/>
                </a:solidFill>
                <a:latin typeface="Times New Roman"/>
                <a:ea typeface="Times New Roman"/>
                <a:cs typeface="Times New Roman"/>
                <a:sym typeface="Times New Roman"/>
              </a:rPr>
              <a:t>: Previous works have utilized facial expression analysis and eye-tracking to monitor attention. However, many rely on specialized hardware. EMERGENCE builds upon recent advancements in lightweight pose estimation (e.g., </a:t>
            </a:r>
            <a:r>
              <a:rPr lang="en-US" sz="3304" dirty="0" err="1">
                <a:solidFill>
                  <a:srgbClr val="000000"/>
                </a:solidFill>
                <a:latin typeface="Times New Roman"/>
                <a:ea typeface="Times New Roman"/>
                <a:cs typeface="Times New Roman"/>
                <a:sym typeface="Times New Roman"/>
              </a:rPr>
              <a:t>MediaPipe</a:t>
            </a:r>
            <a:r>
              <a:rPr lang="en-US" sz="3304" dirty="0">
                <a:solidFill>
                  <a:srgbClr val="000000"/>
                </a:solidFill>
                <a:latin typeface="Times New Roman"/>
                <a:ea typeface="Times New Roman"/>
                <a:cs typeface="Times New Roman"/>
                <a:sym typeface="Times New Roman"/>
              </a:rPr>
              <a:t>) and object detection (YOLO) to perform robust analysis using standard webcams.</a:t>
            </a:r>
          </a:p>
          <a:p>
            <a:pPr marL="713436" lvl="1" indent="-356718" algn="just">
              <a:lnSpc>
                <a:spcPts val="3965"/>
              </a:lnSpc>
              <a:buFont typeface="Arial"/>
              <a:buChar char="•"/>
            </a:pPr>
            <a:r>
              <a:rPr lang="en-US" sz="3304" b="1" dirty="0">
                <a:solidFill>
                  <a:srgbClr val="000000"/>
                </a:solidFill>
                <a:latin typeface="Times New Roman Bold"/>
                <a:ea typeface="Times New Roman Bold"/>
                <a:cs typeface="Times New Roman Bold"/>
                <a:sym typeface="Times New Roman Bold"/>
              </a:rPr>
              <a:t>Multimodal Learning Analytics (MMLA)</a:t>
            </a:r>
            <a:r>
              <a:rPr lang="en-US" sz="3304" dirty="0">
                <a:solidFill>
                  <a:srgbClr val="000000"/>
                </a:solidFill>
                <a:latin typeface="Times New Roman"/>
                <a:ea typeface="Times New Roman"/>
                <a:cs typeface="Times New Roman"/>
                <a:sym typeface="Times New Roman"/>
              </a:rPr>
              <a:t>: MMLA suggests that combining multiple signal sources yields better insights than single-modal data. This project implements this by fusing gaze, posture, and motion data into a composite "Engagement Score," a technique supported by research in affective computing.</a:t>
            </a:r>
          </a:p>
          <a:p>
            <a:pPr marL="713436" lvl="1" indent="-356718" algn="just">
              <a:lnSpc>
                <a:spcPts val="3965"/>
              </a:lnSpc>
              <a:buFont typeface="Arial"/>
              <a:buChar char="•"/>
            </a:pPr>
            <a:r>
              <a:rPr lang="en-US" sz="3304" b="1" dirty="0">
                <a:solidFill>
                  <a:srgbClr val="000000"/>
                </a:solidFill>
                <a:latin typeface="Times New Roman Bold"/>
                <a:ea typeface="Times New Roman Bold"/>
                <a:cs typeface="Times New Roman Bold"/>
                <a:sym typeface="Times New Roman Bold"/>
              </a:rPr>
              <a:t>Generative AI for Personalization</a:t>
            </a:r>
            <a:r>
              <a:rPr lang="en-US" sz="3304" dirty="0">
                <a:solidFill>
                  <a:srgbClr val="000000"/>
                </a:solidFill>
                <a:latin typeface="Times New Roman"/>
                <a:ea typeface="Times New Roman"/>
                <a:cs typeface="Times New Roman"/>
                <a:sym typeface="Times New Roman"/>
              </a:rPr>
              <a:t>: The rise of LLMs (like GPT-4 and Gemini) has enabled the automated creation of educational content. EMERGENCE allows for dynamic curriculum adaptation, moving beyond static recommendation systems to actual content generation based on learner profiles.</a:t>
            </a:r>
          </a:p>
          <a:p>
            <a:pPr algn="l">
              <a:lnSpc>
                <a:spcPts val="3965"/>
              </a:lnSpc>
              <a:spcBef>
                <a:spcPct val="0"/>
              </a:spcBef>
            </a:pPr>
            <a:endParaRPr lang="en-US" sz="3304"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108314"/>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514349" y="1000125"/>
            <a:ext cx="17567129" cy="2189702"/>
          </a:xfrm>
          <a:prstGeom prst="rect">
            <a:avLst/>
          </a:prstGeom>
        </p:spPr>
        <p:txBody>
          <a:bodyPr wrap="square" lIns="0" tIns="0" rIns="0" bIns="0" rtlCol="0" anchor="t">
            <a:spAutoFit/>
          </a:bodyPr>
          <a:lstStyle/>
          <a:p>
            <a:pPr algn="l">
              <a:lnSpc>
                <a:spcPts val="5759"/>
              </a:lnSpc>
            </a:pPr>
            <a:r>
              <a:rPr lang="en-US" sz="4800" b="1" dirty="0">
                <a:solidFill>
                  <a:srgbClr val="000000"/>
                </a:solidFill>
                <a:latin typeface="Times New Roman Bold"/>
                <a:ea typeface="Times New Roman Bold"/>
                <a:cs typeface="Times New Roman Bold"/>
                <a:sym typeface="Times New Roman Bold"/>
              </a:rPr>
              <a:t>PROBLEM STATEMENT</a:t>
            </a:r>
          </a:p>
          <a:p>
            <a:pPr>
              <a:lnSpc>
                <a:spcPts val="5759"/>
              </a:lnSpc>
            </a:pPr>
            <a:r>
              <a:rPr lang="en-US" sz="3200" dirty="0">
                <a:solidFill>
                  <a:srgbClr val="000000"/>
                </a:solidFill>
                <a:latin typeface="Times New Roman"/>
                <a:ea typeface="Times New Roman"/>
                <a:cs typeface="Times New Roman"/>
                <a:sym typeface="Times New Roman"/>
              </a:rPr>
              <a:t>EMERGENCE- An Intelligent Classroom Learning System </a:t>
            </a:r>
          </a:p>
          <a:p>
            <a:pPr algn="l">
              <a:lnSpc>
                <a:spcPts val="5759"/>
              </a:lnSpc>
            </a:pPr>
            <a:endParaRPr lang="en-US" sz="4800" b="1" dirty="0">
              <a:solidFill>
                <a:srgbClr val="000000"/>
              </a:solidFill>
              <a:latin typeface="Times New Roman Bold"/>
              <a:ea typeface="Times New Roman Bold"/>
              <a:cs typeface="Times New Roman Bold"/>
              <a:sym typeface="Times New Roman Bold"/>
            </a:endParaRPr>
          </a:p>
        </p:txBody>
      </p:sp>
      <p:sp>
        <p:nvSpPr>
          <p:cNvPr id="7" name="TextBox 7"/>
          <p:cNvSpPr txBox="1"/>
          <p:nvPr/>
        </p:nvSpPr>
        <p:spPr>
          <a:xfrm>
            <a:off x="514350" y="2816679"/>
            <a:ext cx="17259300" cy="6079421"/>
          </a:xfrm>
          <a:prstGeom prst="rect">
            <a:avLst/>
          </a:prstGeom>
        </p:spPr>
        <p:txBody>
          <a:bodyPr lIns="0" tIns="0" rIns="0" bIns="0" rtlCol="0" anchor="t">
            <a:spAutoFit/>
          </a:bodyPr>
          <a:lstStyle/>
          <a:p>
            <a:pPr algn="l">
              <a:lnSpc>
                <a:spcPts val="5280"/>
              </a:lnSpc>
              <a:spcBef>
                <a:spcPct val="0"/>
              </a:spcBef>
            </a:pPr>
            <a:r>
              <a:rPr lang="en-US" sz="4400" dirty="0">
                <a:solidFill>
                  <a:srgbClr val="000000"/>
                </a:solidFill>
                <a:latin typeface="Times New Roman"/>
                <a:ea typeface="Times New Roman"/>
                <a:cs typeface="Times New Roman"/>
                <a:sym typeface="Times New Roman"/>
              </a:rPr>
              <a:t>In physical classrooms, instructors cannot simultaneously monitor and adapt to the micro-behaviors of every student. Sub problem statements are: </a:t>
            </a:r>
          </a:p>
          <a:p>
            <a:pPr algn="l">
              <a:lnSpc>
                <a:spcPts val="5280"/>
              </a:lnSpc>
              <a:spcBef>
                <a:spcPct val="0"/>
              </a:spcBef>
            </a:pPr>
            <a:endParaRPr lang="en-US" sz="4400" dirty="0">
              <a:solidFill>
                <a:srgbClr val="000000"/>
              </a:solidFill>
              <a:latin typeface="Times New Roman"/>
              <a:ea typeface="Times New Roman"/>
              <a:cs typeface="Times New Roman"/>
              <a:sym typeface="Times New Roman"/>
            </a:endParaRPr>
          </a:p>
          <a:p>
            <a:pPr marL="571500" indent="-571500" algn="l">
              <a:lnSpc>
                <a:spcPts val="5280"/>
              </a:lnSpc>
              <a:spcBef>
                <a:spcPct val="0"/>
              </a:spcBef>
              <a:buFont typeface="Arial" panose="020B0604020202020204" pitchFamily="34" charset="0"/>
              <a:buChar char="•"/>
            </a:pPr>
            <a:r>
              <a:rPr lang="en-US" sz="4400" b="1" dirty="0">
                <a:solidFill>
                  <a:srgbClr val="000000"/>
                </a:solidFill>
                <a:latin typeface="Times New Roman Bold"/>
                <a:ea typeface="Times New Roman Bold"/>
                <a:cs typeface="Times New Roman Bold"/>
                <a:sym typeface="Times New Roman Bold"/>
              </a:rPr>
              <a:t>Latency in Feedback</a:t>
            </a:r>
            <a:r>
              <a:rPr lang="en-US" sz="4400" dirty="0">
                <a:solidFill>
                  <a:srgbClr val="000000"/>
                </a:solidFill>
                <a:latin typeface="Times New Roman"/>
                <a:ea typeface="Times New Roman"/>
                <a:cs typeface="Times New Roman"/>
                <a:sym typeface="Times New Roman"/>
              </a:rPr>
              <a:t>: Teachers often realize a student is struggling only after exams, weeks later.</a:t>
            </a:r>
          </a:p>
          <a:p>
            <a:pPr marL="571500" indent="-571500" algn="l">
              <a:lnSpc>
                <a:spcPts val="5280"/>
              </a:lnSpc>
              <a:spcBef>
                <a:spcPct val="0"/>
              </a:spcBef>
              <a:buFont typeface="Arial" panose="020B0604020202020204" pitchFamily="34" charset="0"/>
              <a:buChar char="•"/>
            </a:pPr>
            <a:r>
              <a:rPr lang="en-US" sz="4400" b="1" dirty="0">
                <a:solidFill>
                  <a:srgbClr val="000000"/>
                </a:solidFill>
                <a:latin typeface="Times New Roman Bold"/>
                <a:ea typeface="Times New Roman Bold"/>
                <a:cs typeface="Times New Roman Bold"/>
                <a:sym typeface="Times New Roman Bold"/>
              </a:rPr>
              <a:t>Subjectivity</a:t>
            </a:r>
            <a:r>
              <a:rPr lang="en-US" sz="4400" dirty="0">
                <a:solidFill>
                  <a:srgbClr val="000000"/>
                </a:solidFill>
                <a:latin typeface="Times New Roman"/>
                <a:ea typeface="Times New Roman"/>
                <a:cs typeface="Times New Roman"/>
                <a:sym typeface="Times New Roman"/>
              </a:rPr>
              <a:t>: Engagement assessment is often biased or based on limited observation.</a:t>
            </a:r>
          </a:p>
          <a:p>
            <a:pPr marL="571500" indent="-571500" algn="l">
              <a:lnSpc>
                <a:spcPts val="5280"/>
              </a:lnSpc>
              <a:spcBef>
                <a:spcPct val="0"/>
              </a:spcBef>
              <a:buFont typeface="Arial" panose="020B0604020202020204" pitchFamily="34" charset="0"/>
              <a:buChar char="•"/>
            </a:pPr>
            <a:r>
              <a:rPr lang="en-US" sz="4400" b="1" dirty="0">
                <a:solidFill>
                  <a:srgbClr val="000000"/>
                </a:solidFill>
                <a:latin typeface="Times New Roman Bold"/>
                <a:ea typeface="Times New Roman Bold"/>
                <a:cs typeface="Times New Roman Bold"/>
                <a:sym typeface="Times New Roman Bold"/>
              </a:rPr>
              <a:t>Static Curriculum</a:t>
            </a:r>
            <a:r>
              <a:rPr lang="en-US" sz="4400" dirty="0">
                <a:solidFill>
                  <a:srgbClr val="000000"/>
                </a:solidFill>
                <a:latin typeface="Times New Roman"/>
                <a:ea typeface="Times New Roman"/>
                <a:cs typeface="Times New Roman"/>
                <a:sym typeface="Times New Roman"/>
              </a:rPr>
              <a:t>: Content is fixed, preventing real-time adaptation to the class's current cognitive state.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75F22-1438-DD44-4185-73F7A01F86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7AE0E5-35DB-4B45-D58D-93869FFF7A81}"/>
              </a:ext>
            </a:extLst>
          </p:cNvPr>
          <p:cNvGrpSpPr/>
          <p:nvPr/>
        </p:nvGrpSpPr>
        <p:grpSpPr>
          <a:xfrm>
            <a:off x="123758" y="108314"/>
            <a:ext cx="18040483" cy="10070373"/>
            <a:chOff x="0" y="0"/>
            <a:chExt cx="24053978" cy="13427164"/>
          </a:xfrm>
        </p:grpSpPr>
        <p:sp>
          <p:nvSpPr>
            <p:cNvPr id="3" name="Freeform 3">
              <a:extLst>
                <a:ext uri="{FF2B5EF4-FFF2-40B4-BE49-F238E27FC236}">
                  <a16:creationId xmlns:a16="http://schemas.microsoft.com/office/drawing/2014/main" id="{29CFC0F0-4F3B-85AB-0682-C974FBE23853}"/>
                </a:ext>
              </a:extLst>
            </p:cNvPr>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a:extLst>
              <a:ext uri="{FF2B5EF4-FFF2-40B4-BE49-F238E27FC236}">
                <a16:creationId xmlns:a16="http://schemas.microsoft.com/office/drawing/2014/main" id="{C8BF150F-4866-16D5-8AE6-35127213FC83}"/>
              </a:ext>
            </a:extLst>
          </p:cNvPr>
          <p:cNvGrpSpPr/>
          <p:nvPr/>
        </p:nvGrpSpPr>
        <p:grpSpPr>
          <a:xfrm>
            <a:off x="16077133" y="191729"/>
            <a:ext cx="2004384" cy="811159"/>
            <a:chOff x="0" y="0"/>
            <a:chExt cx="2672512" cy="1081545"/>
          </a:xfrm>
        </p:grpSpPr>
        <p:sp>
          <p:nvSpPr>
            <p:cNvPr id="5" name="Freeform 5" descr="A picture containing text, clipart  Description automatically generated">
              <a:extLst>
                <a:ext uri="{FF2B5EF4-FFF2-40B4-BE49-F238E27FC236}">
                  <a16:creationId xmlns:a16="http://schemas.microsoft.com/office/drawing/2014/main" id="{0837BC01-D4B0-847C-FB98-A55A18B1EE0E}"/>
                </a:ext>
              </a:extLst>
            </p:cNvPr>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a:extLst>
              <a:ext uri="{FF2B5EF4-FFF2-40B4-BE49-F238E27FC236}">
                <a16:creationId xmlns:a16="http://schemas.microsoft.com/office/drawing/2014/main" id="{55DF3550-26E8-8A73-56AC-1D9B2BE16429}"/>
              </a:ext>
            </a:extLst>
          </p:cNvPr>
          <p:cNvSpPr txBox="1"/>
          <p:nvPr/>
        </p:nvSpPr>
        <p:spPr>
          <a:xfrm>
            <a:off x="514349" y="1000125"/>
            <a:ext cx="17567129" cy="702115"/>
          </a:xfrm>
          <a:prstGeom prst="rect">
            <a:avLst/>
          </a:prstGeom>
        </p:spPr>
        <p:txBody>
          <a:bodyPr wrap="square" lIns="0" tIns="0" rIns="0" bIns="0" rtlCol="0" anchor="t">
            <a:spAutoFit/>
          </a:bodyPr>
          <a:lstStyle/>
          <a:p>
            <a:pPr algn="l">
              <a:lnSpc>
                <a:spcPts val="5759"/>
              </a:lnSpc>
            </a:pPr>
            <a:r>
              <a:rPr lang="en-US" sz="4800" b="1" dirty="0">
                <a:solidFill>
                  <a:srgbClr val="000000"/>
                </a:solidFill>
                <a:latin typeface="Times New Roman Bold"/>
                <a:ea typeface="Times New Roman Bold"/>
                <a:cs typeface="Times New Roman Bold"/>
                <a:sym typeface="Times New Roman Bold"/>
              </a:rPr>
              <a:t>SWOT- Analysis</a:t>
            </a:r>
          </a:p>
        </p:txBody>
      </p:sp>
      <p:sp>
        <p:nvSpPr>
          <p:cNvPr id="7" name="TextBox 7">
            <a:extLst>
              <a:ext uri="{FF2B5EF4-FFF2-40B4-BE49-F238E27FC236}">
                <a16:creationId xmlns:a16="http://schemas.microsoft.com/office/drawing/2014/main" id="{CAE89FF8-6731-1E77-460D-B87012ED9E06}"/>
              </a:ext>
            </a:extLst>
          </p:cNvPr>
          <p:cNvSpPr txBox="1"/>
          <p:nvPr/>
        </p:nvSpPr>
        <p:spPr>
          <a:xfrm>
            <a:off x="514350" y="2816679"/>
            <a:ext cx="8629650" cy="7017306"/>
          </a:xfrm>
          <a:prstGeom prst="rect">
            <a:avLst/>
          </a:prstGeom>
        </p:spPr>
        <p:txBody>
          <a:bodyPr wrap="square" lIns="0" tIns="0" rIns="0" bIns="0" rtlCol="0" anchor="t">
            <a:spAutoFit/>
          </a:bodyPr>
          <a:lstStyle/>
          <a:p>
            <a:br>
              <a:rPr lang="en-IN" sz="2400" dirty="0"/>
            </a:br>
            <a:endParaRPr lang="en-IN" sz="2400" dirty="0"/>
          </a:p>
          <a:p>
            <a:r>
              <a:rPr lang="en-IN" sz="2400" b="1" dirty="0"/>
              <a:t>🟢 Strengths</a:t>
            </a:r>
          </a:p>
          <a:p>
            <a:r>
              <a:rPr lang="en-IN" sz="2400" dirty="0"/>
              <a:t>Modular three-layer architecture (Vision → Reasoning → Generation)</a:t>
            </a:r>
          </a:p>
          <a:p>
            <a:r>
              <a:rPr lang="en-IN" sz="2400" dirty="0"/>
              <a:t>Real-time engagement detection using lightweight models</a:t>
            </a:r>
          </a:p>
          <a:p>
            <a:r>
              <a:rPr lang="en-IN" sz="2400" dirty="0"/>
              <a:t>Closed-loop adaptive learning system</a:t>
            </a:r>
          </a:p>
          <a:p>
            <a:r>
              <a:rPr lang="en-IN" sz="2400" dirty="0"/>
              <a:t>Combines Computer Vision + ML + Generative AI</a:t>
            </a:r>
          </a:p>
          <a:p>
            <a:r>
              <a:rPr lang="en-IN" sz="2400" dirty="0"/>
              <a:t>Scalable and deployable on standard hardware</a:t>
            </a:r>
          </a:p>
          <a:p>
            <a:r>
              <a:rPr lang="en-IN" sz="2400" dirty="0"/>
              <a:t>Interpretable engagement scoring model</a:t>
            </a:r>
          </a:p>
          <a:p>
            <a:br>
              <a:rPr lang="en-IN" sz="2400" dirty="0"/>
            </a:br>
            <a:endParaRPr lang="en-IN" sz="2400" dirty="0"/>
          </a:p>
          <a:p>
            <a:r>
              <a:rPr lang="en-IN" sz="2400" b="1" dirty="0"/>
              <a:t>🟡 Weaknesses</a:t>
            </a:r>
          </a:p>
          <a:p>
            <a:r>
              <a:rPr lang="en-IN" sz="2400" dirty="0"/>
              <a:t>Engagement estimation is probabilistic, not absolute</a:t>
            </a:r>
          </a:p>
          <a:p>
            <a:r>
              <a:rPr lang="en-IN" sz="2400" dirty="0"/>
              <a:t>Depends on camera quality and lighting conditions</a:t>
            </a:r>
          </a:p>
          <a:p>
            <a:r>
              <a:rPr lang="en-IN" sz="2400" dirty="0"/>
              <a:t>Heuristic weight-based scoring (not fully data-optimized yet)</a:t>
            </a:r>
          </a:p>
          <a:p>
            <a:r>
              <a:rPr lang="en-IN" sz="2400" dirty="0"/>
              <a:t>LLM output requires validation before real classroom use</a:t>
            </a:r>
          </a:p>
          <a:p>
            <a:r>
              <a:rPr lang="en-IN" sz="2400" dirty="0"/>
              <a:t>Limited dataset diversity in MVP phase</a:t>
            </a:r>
          </a:p>
          <a:p>
            <a:br>
              <a:rPr lang="en-IN" sz="2400" dirty="0"/>
            </a:br>
            <a:endParaRPr lang="en-IN" sz="2400" dirty="0"/>
          </a:p>
        </p:txBody>
      </p:sp>
      <p:sp>
        <p:nvSpPr>
          <p:cNvPr id="9" name="TextBox 8">
            <a:extLst>
              <a:ext uri="{FF2B5EF4-FFF2-40B4-BE49-F238E27FC236}">
                <a16:creationId xmlns:a16="http://schemas.microsoft.com/office/drawing/2014/main" id="{3D5FA052-B484-F584-55D3-BF5F033B1018}"/>
              </a:ext>
            </a:extLst>
          </p:cNvPr>
          <p:cNvSpPr txBox="1"/>
          <p:nvPr/>
        </p:nvSpPr>
        <p:spPr>
          <a:xfrm>
            <a:off x="9319684" y="3086100"/>
            <a:ext cx="11353800" cy="6001643"/>
          </a:xfrm>
          <a:prstGeom prst="rect">
            <a:avLst/>
          </a:prstGeom>
          <a:noFill/>
        </p:spPr>
        <p:txBody>
          <a:bodyPr wrap="square">
            <a:spAutoFit/>
          </a:bodyPr>
          <a:lstStyle/>
          <a:p>
            <a:endParaRPr lang="en-IN" sz="2400" dirty="0"/>
          </a:p>
          <a:p>
            <a:r>
              <a:rPr lang="en-IN" sz="2400" b="1" dirty="0"/>
              <a:t>🔵 Opportunities</a:t>
            </a:r>
          </a:p>
          <a:p>
            <a:r>
              <a:rPr lang="en-IN" sz="2400" dirty="0"/>
              <a:t>Deployment in smart classrooms and EdTech platforms</a:t>
            </a:r>
          </a:p>
          <a:p>
            <a:r>
              <a:rPr lang="en-IN" sz="2400" dirty="0"/>
              <a:t>Integration with LMS systems (Moodle, Google Classroom)</a:t>
            </a:r>
          </a:p>
          <a:p>
            <a:r>
              <a:rPr lang="en-IN" sz="2400" dirty="0"/>
              <a:t>Expansion with audio emotion detection</a:t>
            </a:r>
          </a:p>
          <a:p>
            <a:r>
              <a:rPr lang="en-IN" sz="2400" dirty="0"/>
              <a:t>Sensor integration (heart rate, wearables)</a:t>
            </a:r>
          </a:p>
          <a:p>
            <a:r>
              <a:rPr lang="en-IN" sz="2400" dirty="0"/>
              <a:t>Potential research publication in AI in Education</a:t>
            </a:r>
          </a:p>
          <a:p>
            <a:r>
              <a:rPr lang="en-IN" sz="2400" dirty="0"/>
              <a:t>Future commercialization as adaptive teaching assistant</a:t>
            </a:r>
          </a:p>
          <a:p>
            <a:br>
              <a:rPr lang="en-IN" sz="2400" dirty="0"/>
            </a:br>
            <a:endParaRPr lang="en-IN" sz="2400" dirty="0"/>
          </a:p>
          <a:p>
            <a:r>
              <a:rPr lang="en-IN" sz="2400" b="1" dirty="0"/>
              <a:t>🔴 Threats</a:t>
            </a:r>
          </a:p>
          <a:p>
            <a:r>
              <a:rPr lang="en-IN" sz="2400" dirty="0"/>
              <a:t>Privacy and ethical concerns in classroom monitoring</a:t>
            </a:r>
          </a:p>
          <a:p>
            <a:r>
              <a:rPr lang="en-IN" sz="2400" dirty="0"/>
              <a:t>Resistance from educators to AI-assisted teaching</a:t>
            </a:r>
          </a:p>
          <a:p>
            <a:r>
              <a:rPr lang="en-IN" sz="2400" dirty="0"/>
              <a:t>Bias in </a:t>
            </a:r>
            <a:r>
              <a:rPr lang="en-IN" sz="2400" dirty="0" err="1"/>
              <a:t>behavioral</a:t>
            </a:r>
            <a:r>
              <a:rPr lang="en-IN" sz="2400" dirty="0"/>
              <a:t> interpretation</a:t>
            </a:r>
          </a:p>
          <a:p>
            <a:r>
              <a:rPr lang="en-IN" sz="2400" dirty="0"/>
              <a:t>API dependency (Gemini or external LLM services)</a:t>
            </a:r>
          </a:p>
          <a:p>
            <a:r>
              <a:rPr lang="en-IN" sz="2400" dirty="0"/>
              <a:t>Hardware limitations in large-scale classrooms</a:t>
            </a:r>
          </a:p>
        </p:txBody>
      </p:sp>
    </p:spTree>
    <p:extLst>
      <p:ext uri="{BB962C8B-B14F-4D97-AF65-F5344CB8AC3E}">
        <p14:creationId xmlns:p14="http://schemas.microsoft.com/office/powerpoint/2010/main" val="245449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1028700" y="974312"/>
            <a:ext cx="3523059" cy="7524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OBJECTIVE</a:t>
            </a:r>
          </a:p>
        </p:txBody>
      </p:sp>
      <p:sp>
        <p:nvSpPr>
          <p:cNvPr id="7" name="TextBox 7"/>
          <p:cNvSpPr txBox="1"/>
          <p:nvPr/>
        </p:nvSpPr>
        <p:spPr>
          <a:xfrm>
            <a:off x="1028700" y="2438400"/>
            <a:ext cx="16498995" cy="7009163"/>
          </a:xfrm>
          <a:prstGeom prst="rect">
            <a:avLst/>
          </a:prstGeom>
        </p:spPr>
        <p:txBody>
          <a:bodyPr lIns="0" tIns="0" rIns="0" bIns="0" rtlCol="0" anchor="t">
            <a:spAutoFit/>
          </a:bodyPr>
          <a:lstStyle/>
          <a:p>
            <a:pPr algn="l">
              <a:lnSpc>
                <a:spcPts val="5520"/>
              </a:lnSpc>
              <a:spcBef>
                <a:spcPct val="0"/>
              </a:spcBef>
            </a:pPr>
            <a:r>
              <a:rPr lang="en-US" sz="4600" dirty="0">
                <a:solidFill>
                  <a:srgbClr val="000000"/>
                </a:solidFill>
                <a:latin typeface="Times New Roman"/>
                <a:ea typeface="Times New Roman"/>
                <a:cs typeface="Times New Roman"/>
                <a:sym typeface="Times New Roman"/>
              </a:rPr>
              <a:t>The primary objective is to develop a functioning Prototype at       TRL 6-7 (Technology Readiness Level) of the EMERGENCE system that includes:</a:t>
            </a:r>
          </a:p>
          <a:p>
            <a:pPr marL="685800" indent="-685800" algn="l">
              <a:lnSpc>
                <a:spcPts val="5520"/>
              </a:lnSpc>
              <a:spcBef>
                <a:spcPct val="0"/>
              </a:spcBef>
              <a:buFont typeface="Arial" panose="020B0604020202020204" pitchFamily="34" charset="0"/>
              <a:buChar char="•"/>
            </a:pPr>
            <a:r>
              <a:rPr lang="en-US" sz="4400" b="1" dirty="0">
                <a:solidFill>
                  <a:srgbClr val="000000"/>
                </a:solidFill>
                <a:latin typeface="Times New Roman Bold"/>
                <a:ea typeface="Times New Roman Bold"/>
                <a:cs typeface="Times New Roman Bold"/>
                <a:sym typeface="Times New Roman Bold"/>
              </a:rPr>
              <a:t>Monitor</a:t>
            </a:r>
            <a:r>
              <a:rPr lang="en-US" sz="4400" dirty="0">
                <a:solidFill>
                  <a:srgbClr val="000000"/>
                </a:solidFill>
                <a:latin typeface="Times New Roman"/>
                <a:ea typeface="Times New Roman"/>
                <a:cs typeface="Times New Roman"/>
                <a:sym typeface="Times New Roman"/>
              </a:rPr>
              <a:t>: Accurately detect students and quantify their engagement in real-time using computer vision.</a:t>
            </a:r>
          </a:p>
          <a:p>
            <a:pPr marL="685800" indent="-685800" algn="l">
              <a:lnSpc>
                <a:spcPts val="5520"/>
              </a:lnSpc>
              <a:spcBef>
                <a:spcPct val="0"/>
              </a:spcBef>
              <a:buFont typeface="Arial" panose="020B0604020202020204" pitchFamily="34" charset="0"/>
              <a:buChar char="•"/>
            </a:pPr>
            <a:r>
              <a:rPr lang="en-US" sz="4400" b="1" dirty="0">
                <a:solidFill>
                  <a:srgbClr val="000000"/>
                </a:solidFill>
                <a:latin typeface="Times New Roman Bold"/>
                <a:ea typeface="Times New Roman Bold"/>
                <a:cs typeface="Times New Roman Bold"/>
                <a:sym typeface="Times New Roman Bold"/>
              </a:rPr>
              <a:t>Analyze</a:t>
            </a:r>
            <a:r>
              <a:rPr lang="en-US" sz="4400" dirty="0">
                <a:solidFill>
                  <a:srgbClr val="000000"/>
                </a:solidFill>
                <a:latin typeface="Times New Roman"/>
                <a:ea typeface="Times New Roman"/>
                <a:cs typeface="Times New Roman"/>
                <a:sym typeface="Times New Roman"/>
              </a:rPr>
              <a:t>: Classify students into distinct engagement profiles (e.g., "Needs Support", "Active", "Highly Engaged") without prior labeling.</a:t>
            </a:r>
          </a:p>
          <a:p>
            <a:pPr marL="685800" indent="-685800" algn="l">
              <a:lnSpc>
                <a:spcPts val="5520"/>
              </a:lnSpc>
              <a:spcBef>
                <a:spcPct val="0"/>
              </a:spcBef>
              <a:buFont typeface="Arial" panose="020B0604020202020204" pitchFamily="34" charset="0"/>
              <a:buChar char="•"/>
            </a:pPr>
            <a:r>
              <a:rPr lang="en-US" sz="4400" b="1" dirty="0">
                <a:solidFill>
                  <a:srgbClr val="000000"/>
                </a:solidFill>
                <a:latin typeface="Times New Roman Bold"/>
                <a:ea typeface="Times New Roman Bold"/>
                <a:cs typeface="Times New Roman Bold"/>
                <a:sym typeface="Times New Roman Bold"/>
              </a:rPr>
              <a:t>Adapt</a:t>
            </a:r>
            <a:r>
              <a:rPr lang="en-US" sz="4400" dirty="0">
                <a:solidFill>
                  <a:srgbClr val="000000"/>
                </a:solidFill>
                <a:latin typeface="Times New Roman"/>
                <a:ea typeface="Times New Roman"/>
                <a:cs typeface="Times New Roman"/>
                <a:sym typeface="Times New Roman"/>
              </a:rPr>
              <a:t>: Automatically generate and deliver personalized learning modules and assessments tailored to each student's specific engagement profile.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216627"/>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36100" y="217541"/>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580330" y="418957"/>
            <a:ext cx="4572298" cy="7524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METHDOLOGY</a:t>
            </a:r>
          </a:p>
        </p:txBody>
      </p:sp>
      <p:sp>
        <p:nvSpPr>
          <p:cNvPr id="7" name="TextBox 7"/>
          <p:cNvSpPr txBox="1"/>
          <p:nvPr/>
        </p:nvSpPr>
        <p:spPr>
          <a:xfrm>
            <a:off x="247517" y="1481818"/>
            <a:ext cx="17792967" cy="1152525"/>
          </a:xfrm>
          <a:prstGeom prst="rect">
            <a:avLst/>
          </a:prstGeom>
        </p:spPr>
        <p:txBody>
          <a:bodyPr lIns="0" tIns="0" rIns="0" bIns="0" rtlCol="0" anchor="t">
            <a:spAutoFit/>
          </a:bodyPr>
          <a:lstStyle/>
          <a:p>
            <a:pPr algn="ctr">
              <a:lnSpc>
                <a:spcPts val="4440"/>
              </a:lnSpc>
              <a:spcBef>
                <a:spcPct val="0"/>
              </a:spcBef>
            </a:pPr>
            <a:r>
              <a:rPr lang="en-US" sz="3700">
                <a:solidFill>
                  <a:srgbClr val="000000"/>
                </a:solidFill>
                <a:latin typeface="Times New Roman"/>
                <a:ea typeface="Times New Roman"/>
                <a:cs typeface="Times New Roman"/>
                <a:sym typeface="Times New Roman"/>
              </a:rPr>
              <a:t>The system implementation is divided into three distinct layers, corresponding to the `src` directory structure of the codebase.</a:t>
            </a:r>
          </a:p>
        </p:txBody>
      </p:sp>
      <p:sp>
        <p:nvSpPr>
          <p:cNvPr id="8" name="TextBox 8"/>
          <p:cNvSpPr txBox="1"/>
          <p:nvPr/>
        </p:nvSpPr>
        <p:spPr>
          <a:xfrm>
            <a:off x="1317500" y="2958193"/>
            <a:ext cx="15720791" cy="6924675"/>
          </a:xfrm>
          <a:prstGeom prst="rect">
            <a:avLst/>
          </a:prstGeom>
        </p:spPr>
        <p:txBody>
          <a:bodyPr lIns="0" tIns="0" rIns="0" bIns="0" rtlCol="0" anchor="t">
            <a:spAutoFit/>
          </a:bodyPr>
          <a:lstStyle/>
          <a:p>
            <a:pPr algn="l">
              <a:lnSpc>
                <a:spcPts val="3240"/>
              </a:lnSpc>
              <a:spcBef>
                <a:spcPct val="0"/>
              </a:spcBef>
            </a:pPr>
            <a:r>
              <a:rPr lang="en-US" sz="2700" b="1">
                <a:solidFill>
                  <a:srgbClr val="000000"/>
                </a:solidFill>
                <a:latin typeface="Times New Roman Bold"/>
                <a:ea typeface="Times New Roman Bold"/>
                <a:cs typeface="Times New Roman Bold"/>
                <a:sym typeface="Times New Roman Bold"/>
              </a:rPr>
              <a:t>Phase 1: Vision Layer (Perception)</a:t>
            </a:r>
          </a:p>
          <a:p>
            <a:pPr algn="l">
              <a:lnSpc>
                <a:spcPts val="3240"/>
              </a:lnSpc>
              <a:spcBef>
                <a:spcPct val="0"/>
              </a:spcBef>
            </a:pPr>
            <a:endParaRPr lang="en-US" sz="2700" b="1">
              <a:solidFill>
                <a:srgbClr val="000000"/>
              </a:solidFill>
              <a:latin typeface="Times New Roman Bold"/>
              <a:ea typeface="Times New Roman Bold"/>
              <a:cs typeface="Times New Roman Bold"/>
              <a:sym typeface="Times New Roman Bold"/>
            </a:endParaRPr>
          </a:p>
          <a:p>
            <a:pPr algn="l">
              <a:lnSpc>
                <a:spcPts val="3240"/>
              </a:lnSpc>
              <a:spcBef>
                <a:spcPct val="0"/>
              </a:spcBef>
            </a:pPr>
            <a:r>
              <a:rPr lang="en-US" sz="2700">
                <a:solidFill>
                  <a:srgbClr val="000000"/>
                </a:solidFill>
                <a:latin typeface="Times New Roman"/>
                <a:ea typeface="Times New Roman"/>
                <a:cs typeface="Times New Roman"/>
                <a:sym typeface="Times New Roman"/>
              </a:rPr>
              <a:t>The Vision Layer acts as the system's eyes. It processes video input (live webcam or recorded file) to extract raw behavioral data.</a:t>
            </a:r>
          </a:p>
          <a:p>
            <a:pPr algn="l">
              <a:lnSpc>
                <a:spcPts val="3240"/>
              </a:lnSpc>
              <a:spcBef>
                <a:spcPct val="0"/>
              </a:spcBef>
            </a:pPr>
            <a:r>
              <a:rPr lang="en-US" sz="2700" b="1">
                <a:solidFill>
                  <a:srgbClr val="000000"/>
                </a:solidFill>
                <a:latin typeface="Times New Roman Bold"/>
                <a:ea typeface="Times New Roman Bold"/>
                <a:cs typeface="Times New Roman Bold"/>
                <a:sym typeface="Times New Roman Bold"/>
              </a:rPr>
              <a:t>Student Detection</a:t>
            </a:r>
            <a:r>
              <a:rPr lang="en-US" sz="2700">
                <a:solidFill>
                  <a:srgbClr val="000000"/>
                </a:solidFill>
                <a:latin typeface="Times New Roman"/>
                <a:ea typeface="Times New Roman"/>
                <a:cs typeface="Times New Roman"/>
                <a:sym typeface="Times New Roman"/>
              </a:rPr>
              <a:t>: Utilizes </a:t>
            </a:r>
            <a:r>
              <a:rPr lang="en-US" sz="2700" b="1">
                <a:solidFill>
                  <a:srgbClr val="000000"/>
                </a:solidFill>
                <a:latin typeface="Times New Roman Bold"/>
                <a:ea typeface="Times New Roman Bold"/>
                <a:cs typeface="Times New Roman Bold"/>
                <a:sym typeface="Times New Roman Bold"/>
              </a:rPr>
              <a:t>YOLO</a:t>
            </a:r>
            <a:r>
              <a:rPr lang="en-US" sz="2700">
                <a:solidFill>
                  <a:srgbClr val="000000"/>
                </a:solidFill>
                <a:latin typeface="Times New Roman"/>
                <a:ea typeface="Times New Roman"/>
                <a:cs typeface="Times New Roman"/>
                <a:sym typeface="Times New Roman"/>
              </a:rPr>
              <a:t> (You Only Look Once) via the `StudentDetector` class to identify and track students in the frame, assigning unique IDs.</a:t>
            </a:r>
          </a:p>
          <a:p>
            <a:pPr algn="l">
              <a:lnSpc>
                <a:spcPts val="3240"/>
              </a:lnSpc>
              <a:spcBef>
                <a:spcPct val="0"/>
              </a:spcBef>
            </a:pPr>
            <a:r>
              <a:rPr lang="en-US" sz="2700" b="1">
                <a:solidFill>
                  <a:srgbClr val="000000"/>
                </a:solidFill>
                <a:latin typeface="Times New Roman Bold"/>
                <a:ea typeface="Times New Roman Bold"/>
                <a:cs typeface="Times New Roman Bold"/>
                <a:sym typeface="Times New Roman Bold"/>
              </a:rPr>
              <a:t>Pose &amp; Gaze Estimation</a:t>
            </a:r>
            <a:r>
              <a:rPr lang="en-US" sz="2700">
                <a:solidFill>
                  <a:srgbClr val="000000"/>
                </a:solidFill>
                <a:latin typeface="Times New Roman"/>
                <a:ea typeface="Times New Roman"/>
                <a:cs typeface="Times New Roman"/>
                <a:sym typeface="Times New Roman"/>
              </a:rPr>
              <a:t>: The `PoseExtractor` (likely utilizing </a:t>
            </a:r>
            <a:r>
              <a:rPr lang="en-US" sz="2700" b="1">
                <a:solidFill>
                  <a:srgbClr val="000000"/>
                </a:solidFill>
                <a:latin typeface="Times New Roman Bold"/>
                <a:ea typeface="Times New Roman Bold"/>
                <a:cs typeface="Times New Roman Bold"/>
                <a:sym typeface="Times New Roman Bold"/>
              </a:rPr>
              <a:t>MediaPipe</a:t>
            </a:r>
            <a:r>
              <a:rPr lang="en-US" sz="2700">
                <a:solidFill>
                  <a:srgbClr val="000000"/>
                </a:solidFill>
                <a:latin typeface="Times New Roman"/>
                <a:ea typeface="Times New Roman"/>
                <a:cs typeface="Times New Roman"/>
                <a:sym typeface="Times New Roman"/>
              </a:rPr>
              <a:t>) analyzes each student's crop to determine head orientation and body posture.</a:t>
            </a:r>
          </a:p>
          <a:p>
            <a:pPr algn="l">
              <a:lnSpc>
                <a:spcPts val="3240"/>
              </a:lnSpc>
              <a:spcBef>
                <a:spcPct val="0"/>
              </a:spcBef>
            </a:pPr>
            <a:r>
              <a:rPr lang="en-US" sz="2700" b="1">
                <a:solidFill>
                  <a:srgbClr val="000000"/>
                </a:solidFill>
                <a:latin typeface="Times New Roman Bold"/>
                <a:ea typeface="Times New Roman Bold"/>
                <a:cs typeface="Times New Roman Bold"/>
                <a:sym typeface="Times New Roman Bold"/>
              </a:rPr>
              <a:t>Motion Analysis</a:t>
            </a:r>
            <a:r>
              <a:rPr lang="en-US" sz="2700">
                <a:solidFill>
                  <a:srgbClr val="000000"/>
                </a:solidFill>
                <a:latin typeface="Times New Roman"/>
                <a:ea typeface="Times New Roman"/>
                <a:cs typeface="Times New Roman"/>
                <a:sym typeface="Times New Roman"/>
              </a:rPr>
              <a:t>: The `MotionAnalyzer` computes optical flow or frame differences to quantify physical activity levels.</a:t>
            </a:r>
          </a:p>
          <a:p>
            <a:pPr algn="l">
              <a:lnSpc>
                <a:spcPts val="3240"/>
              </a:lnSpc>
              <a:spcBef>
                <a:spcPct val="0"/>
              </a:spcBef>
            </a:pPr>
            <a:r>
              <a:rPr lang="en-US" sz="2700" b="1">
                <a:solidFill>
                  <a:srgbClr val="000000"/>
                </a:solidFill>
                <a:latin typeface="Times New Roman Bold"/>
                <a:ea typeface="Times New Roman Bold"/>
                <a:cs typeface="Times New Roman Bold"/>
                <a:sym typeface="Times New Roman Bold"/>
              </a:rPr>
              <a:t>Engagement Fusion</a:t>
            </a:r>
            <a:r>
              <a:rPr lang="en-US" sz="2700">
                <a:solidFill>
                  <a:srgbClr val="000000"/>
                </a:solidFill>
                <a:latin typeface="Times New Roman"/>
                <a:ea typeface="Times New Roman"/>
                <a:cs typeface="Times New Roman"/>
                <a:sym typeface="Times New Roman"/>
              </a:rPr>
              <a:t>: A weighted heuristic combines these signals into a single scalar metric:</a:t>
            </a:r>
          </a:p>
          <a:p>
            <a:pPr algn="ctr">
              <a:lnSpc>
                <a:spcPts val="3000"/>
              </a:lnSpc>
              <a:spcBef>
                <a:spcPct val="0"/>
              </a:spcBef>
            </a:pPr>
            <a:r>
              <a:rPr lang="en-US" sz="2500">
                <a:solidFill>
                  <a:srgbClr val="000000"/>
                </a:solidFill>
                <a:latin typeface="Times New Roman"/>
                <a:ea typeface="Times New Roman"/>
                <a:cs typeface="Times New Roman"/>
                <a:sym typeface="Times New Roman"/>
              </a:rPr>
              <a:t>    </a:t>
            </a:r>
            <a:r>
              <a:rPr lang="en-US" sz="2500" b="1">
                <a:solidFill>
                  <a:srgbClr val="000000"/>
                </a:solidFill>
                <a:latin typeface="Times New Roman Bold"/>
                <a:ea typeface="Times New Roman Bold"/>
                <a:cs typeface="Times New Roman Bold"/>
                <a:sym typeface="Times New Roman Bold"/>
              </a:rPr>
              <a:t>Score=0.6×Gaze+0.25×Posture+0.15×Motion</a:t>
            </a:r>
          </a:p>
          <a:p>
            <a:pPr algn="ctr">
              <a:lnSpc>
                <a:spcPts val="3000"/>
              </a:lnSpc>
              <a:spcBef>
                <a:spcPct val="0"/>
              </a:spcBef>
            </a:pPr>
            <a:endParaRPr lang="en-US" sz="2500" b="1">
              <a:solidFill>
                <a:srgbClr val="000000"/>
              </a:solidFill>
              <a:latin typeface="Times New Roman Bold"/>
              <a:ea typeface="Times New Roman Bold"/>
              <a:cs typeface="Times New Roman Bold"/>
              <a:sym typeface="Times New Roman Bold"/>
            </a:endParaRPr>
          </a:p>
          <a:p>
            <a:pPr algn="l">
              <a:lnSpc>
                <a:spcPts val="3240"/>
              </a:lnSpc>
              <a:spcBef>
                <a:spcPct val="0"/>
              </a:spcBef>
            </a:pPr>
            <a:r>
              <a:rPr lang="en-US" sz="2700">
                <a:solidFill>
                  <a:srgbClr val="000000"/>
                </a:solidFill>
                <a:latin typeface="Times New Roman"/>
                <a:ea typeface="Times New Roman"/>
                <a:cs typeface="Times New Roman"/>
                <a:sym typeface="Times New Roman"/>
              </a:rPr>
              <a:t> Heuristic adjustments are applied for specific actions like "raising hand" or "sleeping".</a:t>
            </a:r>
          </a:p>
          <a:p>
            <a:pPr algn="l">
              <a:lnSpc>
                <a:spcPts val="3240"/>
              </a:lnSpc>
              <a:spcBef>
                <a:spcPct val="0"/>
              </a:spcBef>
            </a:pPr>
            <a:endParaRPr lang="en-US" sz="2700">
              <a:solidFill>
                <a:srgbClr val="000000"/>
              </a:solidFill>
              <a:latin typeface="Times New Roman"/>
              <a:ea typeface="Times New Roman"/>
              <a:cs typeface="Times New Roman"/>
              <a:sym typeface="Times New Roman"/>
            </a:endParaRPr>
          </a:p>
          <a:p>
            <a:pPr algn="l">
              <a:lnSpc>
                <a:spcPts val="3240"/>
              </a:lnSpc>
              <a:spcBef>
                <a:spcPct val="0"/>
              </a:spcBef>
            </a:pPr>
            <a:r>
              <a:rPr lang="en-US" sz="2700" b="1">
                <a:solidFill>
                  <a:srgbClr val="000000"/>
                </a:solidFill>
                <a:latin typeface="Times New Roman Bold"/>
                <a:ea typeface="Times New Roman Bold"/>
                <a:cs typeface="Times New Roman Bold"/>
                <a:sym typeface="Times New Roman Bold"/>
              </a:rPr>
              <a:t>Output</a:t>
            </a:r>
            <a:r>
              <a:rPr lang="en-US" sz="2700">
                <a:solidFill>
                  <a:srgbClr val="000000"/>
                </a:solidFill>
                <a:latin typeface="Times New Roman"/>
                <a:ea typeface="Times New Roman"/>
                <a:cs typeface="Times New Roman"/>
                <a:sym typeface="Times New Roman"/>
              </a:rPr>
              <a:t>: Time-series log of engagement metrics saved to `</a:t>
            </a:r>
            <a:r>
              <a:rPr lang="en-US" sz="2700" b="1">
                <a:solidFill>
                  <a:srgbClr val="000000"/>
                </a:solidFill>
                <a:latin typeface="Times New Roman Bold"/>
                <a:ea typeface="Times New Roman Bold"/>
                <a:cs typeface="Times New Roman Bold"/>
                <a:sym typeface="Times New Roman Bold"/>
              </a:rPr>
              <a:t>data/engagement_log.csv</a:t>
            </a:r>
            <a:r>
              <a:rPr lang="en-US" sz="2700">
                <a:solidFill>
                  <a:srgbClr val="000000"/>
                </a:solidFill>
                <a:latin typeface="Times New Roman"/>
                <a:ea typeface="Times New Roman"/>
                <a:cs typeface="Times New Roman"/>
                <a:sym typeface="Times New Roman"/>
              </a:rPr>
              <a:t>`.</a:t>
            </a:r>
          </a:p>
          <a:p>
            <a:pPr algn="l">
              <a:lnSpc>
                <a:spcPts val="3240"/>
              </a:lnSpc>
              <a:spcBef>
                <a:spcPct val="0"/>
              </a:spcBef>
            </a:pPr>
            <a:endParaRPr lang="en-US" sz="27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3758" y="216627"/>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36100" y="217541"/>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580330" y="188966"/>
            <a:ext cx="4572298" cy="7524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METHDOLOGY</a:t>
            </a:r>
          </a:p>
        </p:txBody>
      </p:sp>
      <p:sp>
        <p:nvSpPr>
          <p:cNvPr id="7" name="TextBox 7"/>
          <p:cNvSpPr txBox="1"/>
          <p:nvPr/>
        </p:nvSpPr>
        <p:spPr>
          <a:xfrm>
            <a:off x="580330" y="1009650"/>
            <a:ext cx="8115300" cy="9315051"/>
          </a:xfrm>
          <a:prstGeom prst="rect">
            <a:avLst/>
          </a:prstGeom>
        </p:spPr>
        <p:txBody>
          <a:bodyPr lIns="0" tIns="0" rIns="0" bIns="0" rtlCol="0" anchor="t">
            <a:spAutoFit/>
          </a:bodyPr>
          <a:lstStyle/>
          <a:p>
            <a:pPr algn="l">
              <a:lnSpc>
                <a:spcPts val="2752"/>
              </a:lnSpc>
              <a:spcBef>
                <a:spcPct val="0"/>
              </a:spcBef>
            </a:pPr>
            <a:r>
              <a:rPr lang="en-US" sz="2293" b="1" dirty="0">
                <a:solidFill>
                  <a:srgbClr val="000000"/>
                </a:solidFill>
                <a:latin typeface="Times New Roman Bold"/>
                <a:ea typeface="Times New Roman Bold"/>
                <a:cs typeface="Times New Roman Bold"/>
                <a:sym typeface="Times New Roman Bold"/>
              </a:rPr>
              <a:t>Phase 2: Reasoning Layer (Analysis)</a:t>
            </a:r>
          </a:p>
          <a:p>
            <a:pPr algn="l">
              <a:lnSpc>
                <a:spcPts val="2752"/>
              </a:lnSpc>
              <a:spcBef>
                <a:spcPct val="0"/>
              </a:spcBef>
            </a:pPr>
            <a:endParaRPr lang="en-US" sz="2293" dirty="0">
              <a:solidFill>
                <a:srgbClr val="000000"/>
              </a:solidFill>
              <a:latin typeface="Times New Roman"/>
              <a:ea typeface="Times New Roman"/>
              <a:cs typeface="Times New Roman"/>
              <a:sym typeface="Times New Roman"/>
            </a:endParaRPr>
          </a:p>
          <a:p>
            <a:pPr algn="l">
              <a:lnSpc>
                <a:spcPts val="2752"/>
              </a:lnSpc>
              <a:spcBef>
                <a:spcPct val="0"/>
              </a:spcBef>
            </a:pPr>
            <a:r>
              <a:rPr lang="en-US" sz="2293" dirty="0">
                <a:solidFill>
                  <a:srgbClr val="000000"/>
                </a:solidFill>
                <a:latin typeface="Times New Roman"/>
                <a:ea typeface="Times New Roman"/>
                <a:cs typeface="Times New Roman"/>
                <a:sym typeface="Times New Roman"/>
              </a:rPr>
              <a:t>The Reasoning Layer interprets the raw engagement data generated by the Vision Layer to derive high-level insights about student learning behavior.</a:t>
            </a:r>
          </a:p>
          <a:p>
            <a:pPr algn="l">
              <a:lnSpc>
                <a:spcPts val="2752"/>
              </a:lnSpc>
            </a:pPr>
            <a:r>
              <a:rPr lang="en-US" sz="2293" b="1" dirty="0">
                <a:solidFill>
                  <a:srgbClr val="000000"/>
                </a:solidFill>
                <a:latin typeface="Times New Roman Bold"/>
                <a:ea typeface="Times New Roman Bold"/>
                <a:cs typeface="Times New Roman Bold"/>
                <a:sym typeface="Times New Roman Bold"/>
              </a:rPr>
              <a:t>Data Aggregation:</a:t>
            </a:r>
          </a:p>
          <a:p>
            <a:pPr algn="l">
              <a:lnSpc>
                <a:spcPts val="2752"/>
              </a:lnSpc>
            </a:pPr>
            <a:r>
              <a:rPr lang="en-US" sz="2293" dirty="0">
                <a:solidFill>
                  <a:srgbClr val="000000"/>
                </a:solidFill>
                <a:latin typeface="Times New Roman"/>
                <a:ea typeface="Times New Roman"/>
                <a:cs typeface="Times New Roman"/>
                <a:sym typeface="Times New Roman"/>
              </a:rPr>
              <a:t>The </a:t>
            </a:r>
            <a:r>
              <a:rPr lang="en-US" sz="2293" dirty="0" err="1">
                <a:solidFill>
                  <a:srgbClr val="000000"/>
                </a:solidFill>
                <a:latin typeface="Times New Roman"/>
                <a:ea typeface="Times New Roman"/>
                <a:cs typeface="Times New Roman"/>
                <a:sym typeface="Times New Roman"/>
              </a:rPr>
              <a:t>EngagementAnalytics</a:t>
            </a:r>
            <a:r>
              <a:rPr lang="en-US" sz="2293" dirty="0">
                <a:solidFill>
                  <a:srgbClr val="000000"/>
                </a:solidFill>
                <a:latin typeface="Times New Roman"/>
                <a:ea typeface="Times New Roman"/>
                <a:cs typeface="Times New Roman"/>
                <a:sym typeface="Times New Roman"/>
              </a:rPr>
              <a:t> component loads the engagement log CSV file and aggregates metrics for each student using their </a:t>
            </a:r>
            <a:r>
              <a:rPr lang="en-US" sz="2293" dirty="0" err="1">
                <a:solidFill>
                  <a:srgbClr val="000000"/>
                </a:solidFill>
                <a:latin typeface="Times New Roman"/>
                <a:ea typeface="Times New Roman"/>
                <a:cs typeface="Times New Roman"/>
                <a:sym typeface="Times New Roman"/>
              </a:rPr>
              <a:t>student_id</a:t>
            </a:r>
            <a:r>
              <a:rPr lang="en-US" sz="2293" dirty="0">
                <a:solidFill>
                  <a:srgbClr val="000000"/>
                </a:solidFill>
                <a:latin typeface="Times New Roman"/>
                <a:ea typeface="Times New Roman"/>
                <a:cs typeface="Times New Roman"/>
                <a:sym typeface="Times New Roman"/>
              </a:rPr>
              <a:t>. This aggregation computes average engagement values and behavioral trends over the duration of the session.</a:t>
            </a:r>
          </a:p>
          <a:p>
            <a:pPr algn="l">
              <a:lnSpc>
                <a:spcPts val="2752"/>
              </a:lnSpc>
            </a:pPr>
            <a:r>
              <a:rPr lang="en-US" sz="2293" b="1" dirty="0">
                <a:solidFill>
                  <a:srgbClr val="000000"/>
                </a:solidFill>
                <a:latin typeface="Times New Roman Bold"/>
                <a:ea typeface="Times New Roman Bold"/>
                <a:cs typeface="Times New Roman Bold"/>
                <a:sym typeface="Times New Roman Bold"/>
              </a:rPr>
              <a:t>Clustering:</a:t>
            </a:r>
          </a:p>
          <a:p>
            <a:pPr algn="l">
              <a:lnSpc>
                <a:spcPts val="2752"/>
              </a:lnSpc>
            </a:pPr>
            <a:r>
              <a:rPr lang="en-US" sz="2293" dirty="0">
                <a:solidFill>
                  <a:srgbClr val="000000"/>
                </a:solidFill>
                <a:latin typeface="Times New Roman"/>
                <a:ea typeface="Times New Roman"/>
                <a:cs typeface="Times New Roman"/>
                <a:sym typeface="Times New Roman"/>
              </a:rPr>
              <a:t> K-Means clustering, an unsupervised learning technique, is applied to the aggregated engagement and gaze features to group students based on similar learning behavior patterns.</a:t>
            </a:r>
          </a:p>
          <a:p>
            <a:pPr algn="l">
              <a:lnSpc>
                <a:spcPts val="2752"/>
              </a:lnSpc>
            </a:pPr>
            <a:r>
              <a:rPr lang="en-US" sz="2293" b="1" dirty="0">
                <a:solidFill>
                  <a:srgbClr val="000000"/>
                </a:solidFill>
                <a:latin typeface="Times New Roman Bold"/>
                <a:ea typeface="Times New Roman Bold"/>
                <a:cs typeface="Times New Roman Bold"/>
                <a:sym typeface="Times New Roman Bold"/>
              </a:rPr>
              <a:t>Profile Mapping:</a:t>
            </a:r>
          </a:p>
          <a:p>
            <a:pPr algn="l">
              <a:lnSpc>
                <a:spcPts val="2752"/>
              </a:lnSpc>
            </a:pPr>
            <a:r>
              <a:rPr lang="en-US" sz="2293" dirty="0">
                <a:solidFill>
                  <a:srgbClr val="000000"/>
                </a:solidFill>
                <a:latin typeface="Times New Roman"/>
                <a:ea typeface="Times New Roman"/>
                <a:cs typeface="Times New Roman"/>
                <a:sym typeface="Times New Roman"/>
              </a:rPr>
              <a:t> The resulting clusters are mapped to semantic learning profiles as follows:</a:t>
            </a:r>
          </a:p>
          <a:p>
            <a:pPr algn="l">
              <a:lnSpc>
                <a:spcPts val="2752"/>
              </a:lnSpc>
            </a:pPr>
            <a:r>
              <a:rPr lang="en-US" sz="2293" dirty="0">
                <a:solidFill>
                  <a:srgbClr val="000000"/>
                </a:solidFill>
                <a:latin typeface="Times New Roman"/>
                <a:ea typeface="Times New Roman"/>
                <a:cs typeface="Times New Roman"/>
                <a:sym typeface="Times New Roman"/>
              </a:rPr>
              <a:t> Cluster 0 represents students who need support and exhibit low engagement, requiring simplified and foundational content.</a:t>
            </a:r>
          </a:p>
          <a:p>
            <a:pPr algn="l">
              <a:lnSpc>
                <a:spcPts val="2752"/>
              </a:lnSpc>
            </a:pPr>
            <a:r>
              <a:rPr lang="en-US" sz="2293" dirty="0">
                <a:solidFill>
                  <a:srgbClr val="000000"/>
                </a:solidFill>
                <a:latin typeface="Times New Roman"/>
                <a:ea typeface="Times New Roman"/>
                <a:cs typeface="Times New Roman"/>
                <a:sym typeface="Times New Roman"/>
              </a:rPr>
              <a:t> Cluster 1 represents active students with medium engagement, suited for the standard curriculum.</a:t>
            </a:r>
          </a:p>
          <a:p>
            <a:pPr algn="l">
              <a:lnSpc>
                <a:spcPts val="2752"/>
              </a:lnSpc>
            </a:pPr>
            <a:r>
              <a:rPr lang="en-US" sz="2293" dirty="0">
                <a:solidFill>
                  <a:srgbClr val="000000"/>
                </a:solidFill>
                <a:latin typeface="Times New Roman"/>
                <a:ea typeface="Times New Roman"/>
                <a:cs typeface="Times New Roman"/>
                <a:sym typeface="Times New Roman"/>
              </a:rPr>
              <a:t> Cluster 2 represents highly engaged students who can be challenged with advanced concepts and deeper material.</a:t>
            </a:r>
          </a:p>
          <a:p>
            <a:pPr algn="l">
              <a:lnSpc>
                <a:spcPts val="2752"/>
              </a:lnSpc>
            </a:pPr>
            <a:r>
              <a:rPr lang="en-US" sz="2293" b="1" dirty="0">
                <a:solidFill>
                  <a:srgbClr val="000000"/>
                </a:solidFill>
                <a:latin typeface="Times New Roman Bold"/>
                <a:ea typeface="Times New Roman Bold"/>
                <a:cs typeface="Times New Roman Bold"/>
                <a:sym typeface="Times New Roman Bold"/>
              </a:rPr>
              <a:t>Output:</a:t>
            </a:r>
          </a:p>
          <a:p>
            <a:pPr algn="l">
              <a:lnSpc>
                <a:spcPts val="2752"/>
              </a:lnSpc>
            </a:pPr>
            <a:r>
              <a:rPr lang="en-US" sz="2293" dirty="0">
                <a:solidFill>
                  <a:srgbClr val="000000"/>
                </a:solidFill>
                <a:latin typeface="Times New Roman"/>
                <a:ea typeface="Times New Roman"/>
                <a:cs typeface="Times New Roman"/>
                <a:sym typeface="Times New Roman"/>
              </a:rPr>
              <a:t> The final student learning profiles are stored in a structured file at data/profiles/student_profiles.csv.</a:t>
            </a:r>
          </a:p>
        </p:txBody>
      </p:sp>
      <p:sp>
        <p:nvSpPr>
          <p:cNvPr id="8" name="TextBox 8"/>
          <p:cNvSpPr txBox="1"/>
          <p:nvPr/>
        </p:nvSpPr>
        <p:spPr>
          <a:xfrm>
            <a:off x="9144000" y="1009650"/>
            <a:ext cx="8425419" cy="7562850"/>
          </a:xfrm>
          <a:prstGeom prst="rect">
            <a:avLst/>
          </a:prstGeom>
        </p:spPr>
        <p:txBody>
          <a:bodyPr lIns="0" tIns="0" rIns="0" bIns="0" rtlCol="0" anchor="t">
            <a:spAutoFit/>
          </a:bodyPr>
          <a:lstStyle/>
          <a:p>
            <a:pPr algn="l">
              <a:lnSpc>
                <a:spcPts val="2747"/>
              </a:lnSpc>
              <a:spcBef>
                <a:spcPct val="0"/>
              </a:spcBef>
            </a:pPr>
            <a:r>
              <a:rPr lang="en-US" sz="2289" b="1" dirty="0">
                <a:solidFill>
                  <a:srgbClr val="000000"/>
                </a:solidFill>
                <a:latin typeface="Times New Roman Bold"/>
                <a:ea typeface="Times New Roman Bold"/>
                <a:cs typeface="Times New Roman Bold"/>
                <a:sym typeface="Times New Roman Bold"/>
              </a:rPr>
              <a:t>Phase 3: Generative Layer (Intervention)</a:t>
            </a:r>
          </a:p>
          <a:p>
            <a:pPr algn="l">
              <a:lnSpc>
                <a:spcPts val="2747"/>
              </a:lnSpc>
              <a:spcBef>
                <a:spcPct val="0"/>
              </a:spcBef>
            </a:pPr>
            <a:endParaRPr lang="en-US" sz="2289" dirty="0">
              <a:solidFill>
                <a:srgbClr val="000000"/>
              </a:solidFill>
              <a:latin typeface="Times New Roman"/>
              <a:ea typeface="Times New Roman"/>
              <a:cs typeface="Times New Roman"/>
              <a:sym typeface="Times New Roman"/>
            </a:endParaRPr>
          </a:p>
          <a:p>
            <a:pPr algn="l">
              <a:lnSpc>
                <a:spcPts val="2747"/>
              </a:lnSpc>
              <a:spcBef>
                <a:spcPct val="0"/>
              </a:spcBef>
            </a:pPr>
            <a:r>
              <a:rPr lang="en-US" sz="2289" dirty="0">
                <a:solidFill>
                  <a:srgbClr val="000000"/>
                </a:solidFill>
                <a:latin typeface="Times New Roman"/>
                <a:ea typeface="Times New Roman"/>
                <a:cs typeface="Times New Roman"/>
                <a:sym typeface="Times New Roman"/>
              </a:rPr>
              <a:t>The Generative Layer completes the adaptive feedback loop by generating personalized educational content based on the inferred student profiles.</a:t>
            </a:r>
          </a:p>
          <a:p>
            <a:pPr algn="l">
              <a:lnSpc>
                <a:spcPts val="2747"/>
              </a:lnSpc>
              <a:spcBef>
                <a:spcPct val="0"/>
              </a:spcBef>
            </a:pPr>
            <a:r>
              <a:rPr lang="en-US" sz="2289" b="1" dirty="0">
                <a:solidFill>
                  <a:srgbClr val="000000"/>
                </a:solidFill>
                <a:latin typeface="Times New Roman Bold"/>
                <a:ea typeface="Times New Roman Bold"/>
                <a:cs typeface="Times New Roman Bold"/>
                <a:sym typeface="Times New Roman Bold"/>
              </a:rPr>
              <a:t>Content Generation:</a:t>
            </a:r>
          </a:p>
          <a:p>
            <a:pPr algn="l">
              <a:lnSpc>
                <a:spcPts val="2747"/>
              </a:lnSpc>
              <a:spcBef>
                <a:spcPct val="0"/>
              </a:spcBef>
            </a:pPr>
            <a:r>
              <a:rPr lang="en-US" sz="2289" dirty="0">
                <a:solidFill>
                  <a:srgbClr val="000000"/>
                </a:solidFill>
                <a:latin typeface="Times New Roman"/>
                <a:ea typeface="Times New Roman"/>
                <a:cs typeface="Times New Roman"/>
                <a:sym typeface="Times New Roman"/>
              </a:rPr>
              <a:t> The </a:t>
            </a:r>
            <a:r>
              <a:rPr lang="en-US" sz="2289" dirty="0" err="1">
                <a:solidFill>
                  <a:srgbClr val="000000"/>
                </a:solidFill>
                <a:latin typeface="Times New Roman"/>
                <a:ea typeface="Times New Roman"/>
                <a:cs typeface="Times New Roman"/>
                <a:sym typeface="Times New Roman"/>
              </a:rPr>
              <a:t>CurriculumGenerator</a:t>
            </a:r>
            <a:r>
              <a:rPr lang="en-US" sz="2289" dirty="0">
                <a:solidFill>
                  <a:srgbClr val="000000"/>
                </a:solidFill>
                <a:latin typeface="Times New Roman"/>
                <a:ea typeface="Times New Roman"/>
                <a:cs typeface="Times New Roman"/>
                <a:sym typeface="Times New Roman"/>
              </a:rPr>
              <a:t> module uses Google’s Gemini Pro API to generate learning material dynamically.</a:t>
            </a:r>
          </a:p>
          <a:p>
            <a:pPr algn="l">
              <a:lnSpc>
                <a:spcPts val="2747"/>
              </a:lnSpc>
              <a:spcBef>
                <a:spcPct val="0"/>
              </a:spcBef>
            </a:pPr>
            <a:r>
              <a:rPr lang="en-US" sz="2289" b="1" dirty="0">
                <a:solidFill>
                  <a:srgbClr val="000000"/>
                </a:solidFill>
                <a:latin typeface="Times New Roman Bold"/>
                <a:ea typeface="Times New Roman Bold"/>
                <a:cs typeface="Times New Roman Bold"/>
                <a:sym typeface="Times New Roman Bold"/>
              </a:rPr>
              <a:t>Prompt Engineering:</a:t>
            </a:r>
          </a:p>
          <a:p>
            <a:pPr algn="l">
              <a:lnSpc>
                <a:spcPts val="2747"/>
              </a:lnSpc>
              <a:spcBef>
                <a:spcPct val="0"/>
              </a:spcBef>
            </a:pPr>
            <a:r>
              <a:rPr lang="en-US" sz="2289" dirty="0">
                <a:solidFill>
                  <a:srgbClr val="000000"/>
                </a:solidFill>
                <a:latin typeface="Times New Roman"/>
                <a:ea typeface="Times New Roman"/>
                <a:cs typeface="Times New Roman"/>
                <a:sym typeface="Times New Roman"/>
              </a:rPr>
              <a:t> Customized prompts are constructed according to the student’s engagement profile.</a:t>
            </a:r>
          </a:p>
          <a:p>
            <a:pPr algn="l">
              <a:lnSpc>
                <a:spcPts val="2747"/>
              </a:lnSpc>
              <a:spcBef>
                <a:spcPct val="0"/>
              </a:spcBef>
            </a:pPr>
            <a:r>
              <a:rPr lang="en-US" sz="2289" dirty="0">
                <a:solidFill>
                  <a:srgbClr val="000000"/>
                </a:solidFill>
                <a:latin typeface="Times New Roman"/>
                <a:ea typeface="Times New Roman"/>
                <a:cs typeface="Times New Roman"/>
                <a:sym typeface="Times New Roman"/>
              </a:rPr>
              <a:t> For students who need support, the prompts request simplified explanations, intuitive analogies, and an encouraging tone.</a:t>
            </a:r>
          </a:p>
          <a:p>
            <a:pPr algn="l">
              <a:lnSpc>
                <a:spcPts val="2747"/>
              </a:lnSpc>
              <a:spcBef>
                <a:spcPct val="0"/>
              </a:spcBef>
            </a:pPr>
            <a:r>
              <a:rPr lang="en-US" sz="2289" dirty="0">
                <a:solidFill>
                  <a:srgbClr val="000000"/>
                </a:solidFill>
                <a:latin typeface="Times New Roman"/>
                <a:ea typeface="Times New Roman"/>
                <a:cs typeface="Times New Roman"/>
                <a:sym typeface="Times New Roman"/>
              </a:rPr>
              <a:t> For highly engaged students, the prompts request deeper theoretical insights, complex examples, and challenging questions.</a:t>
            </a:r>
          </a:p>
          <a:p>
            <a:pPr algn="l">
              <a:lnSpc>
                <a:spcPts val="2747"/>
              </a:lnSpc>
              <a:spcBef>
                <a:spcPct val="0"/>
              </a:spcBef>
            </a:pPr>
            <a:r>
              <a:rPr lang="en-US" sz="2289" b="1" dirty="0">
                <a:solidFill>
                  <a:srgbClr val="000000"/>
                </a:solidFill>
                <a:latin typeface="Times New Roman Bold"/>
                <a:ea typeface="Times New Roman Bold"/>
                <a:cs typeface="Times New Roman Bold"/>
                <a:sym typeface="Times New Roman Bold"/>
              </a:rPr>
              <a:t>Assessment:</a:t>
            </a:r>
          </a:p>
          <a:p>
            <a:pPr algn="l">
              <a:lnSpc>
                <a:spcPts val="2747"/>
              </a:lnSpc>
              <a:spcBef>
                <a:spcPct val="0"/>
              </a:spcBef>
            </a:pPr>
            <a:r>
              <a:rPr lang="en-US" sz="2289" dirty="0">
                <a:solidFill>
                  <a:srgbClr val="000000"/>
                </a:solidFill>
                <a:latin typeface="Times New Roman"/>
                <a:ea typeface="Times New Roman"/>
                <a:cs typeface="Times New Roman"/>
                <a:sym typeface="Times New Roman"/>
              </a:rPr>
              <a:t> The </a:t>
            </a:r>
            <a:r>
              <a:rPr lang="en-US" sz="2289" dirty="0" err="1">
                <a:solidFill>
                  <a:srgbClr val="000000"/>
                </a:solidFill>
                <a:latin typeface="Times New Roman"/>
                <a:ea typeface="Times New Roman"/>
                <a:cs typeface="Times New Roman"/>
                <a:sym typeface="Times New Roman"/>
              </a:rPr>
              <a:t>MicroTestGenerator</a:t>
            </a:r>
            <a:r>
              <a:rPr lang="en-US" sz="2289" dirty="0">
                <a:solidFill>
                  <a:srgbClr val="000000"/>
                </a:solidFill>
                <a:latin typeface="Times New Roman"/>
                <a:ea typeface="Times New Roman"/>
                <a:cs typeface="Times New Roman"/>
                <a:sym typeface="Times New Roman"/>
              </a:rPr>
              <a:t> produces short assessments to validate understanding and reinforce learning aligned with the chosen adaptation strategy.</a:t>
            </a:r>
          </a:p>
          <a:p>
            <a:pPr algn="l">
              <a:lnSpc>
                <a:spcPts val="2747"/>
              </a:lnSpc>
              <a:spcBef>
                <a:spcPct val="0"/>
              </a:spcBef>
            </a:pPr>
            <a:r>
              <a:rPr lang="en-US" sz="2289" b="1" dirty="0">
                <a:solidFill>
                  <a:srgbClr val="000000"/>
                </a:solidFill>
                <a:latin typeface="Times New Roman Bold"/>
                <a:ea typeface="Times New Roman Bold"/>
                <a:cs typeface="Times New Roman Bold"/>
                <a:sym typeface="Times New Roman Bold"/>
              </a:rPr>
              <a:t>Output:</a:t>
            </a:r>
          </a:p>
          <a:p>
            <a:pPr algn="l">
              <a:lnSpc>
                <a:spcPts val="2747"/>
              </a:lnSpc>
              <a:spcBef>
                <a:spcPct val="0"/>
              </a:spcBef>
            </a:pPr>
            <a:r>
              <a:rPr lang="en-US" sz="2289" dirty="0">
                <a:solidFill>
                  <a:srgbClr val="000000"/>
                </a:solidFill>
                <a:latin typeface="Times New Roman"/>
                <a:ea typeface="Times New Roman"/>
                <a:cs typeface="Times New Roman"/>
                <a:sym typeface="Times New Roman"/>
              </a:rPr>
              <a:t> Personalized learning content is generated and saved as Markdown files for each student.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Freeform 6"/>
          <p:cNvSpPr/>
          <p:nvPr/>
        </p:nvSpPr>
        <p:spPr>
          <a:xfrm>
            <a:off x="294843" y="2388491"/>
            <a:ext cx="17786674" cy="5947778"/>
          </a:xfrm>
          <a:custGeom>
            <a:avLst/>
            <a:gdLst/>
            <a:ahLst/>
            <a:cxnLst/>
            <a:rect l="l" t="t" r="r" b="b"/>
            <a:pathLst>
              <a:path w="17786674" h="5947778">
                <a:moveTo>
                  <a:pt x="0" y="0"/>
                </a:moveTo>
                <a:lnTo>
                  <a:pt x="17786674" y="0"/>
                </a:lnTo>
                <a:lnTo>
                  <a:pt x="17786674" y="5947779"/>
                </a:lnTo>
                <a:lnTo>
                  <a:pt x="0" y="5947779"/>
                </a:lnTo>
                <a:lnTo>
                  <a:pt x="0" y="0"/>
                </a:lnTo>
                <a:close/>
              </a:path>
            </a:pathLst>
          </a:custGeom>
          <a:blipFill>
            <a:blip r:embed="rId3"/>
            <a:stretch>
              <a:fillRect l="-713" r="-1392"/>
            </a:stretch>
          </a:blipFill>
        </p:spPr>
        <p:txBody>
          <a:bodyPr/>
          <a:lstStyle/>
          <a:p>
            <a:endParaRPr lang="en-IN"/>
          </a:p>
        </p:txBody>
      </p:sp>
      <p:sp>
        <p:nvSpPr>
          <p:cNvPr id="7" name="TextBox 7"/>
          <p:cNvSpPr txBox="1"/>
          <p:nvPr/>
        </p:nvSpPr>
        <p:spPr>
          <a:xfrm>
            <a:off x="580330" y="974312"/>
            <a:ext cx="6353870" cy="702115"/>
          </a:xfrm>
          <a:prstGeom prst="rect">
            <a:avLst/>
          </a:prstGeom>
        </p:spPr>
        <p:txBody>
          <a:bodyPr wrap="square" lIns="0" tIns="0" rIns="0" bIns="0" rtlCol="0" anchor="t">
            <a:spAutoFit/>
          </a:bodyPr>
          <a:lstStyle/>
          <a:p>
            <a:pPr algn="l">
              <a:lnSpc>
                <a:spcPts val="5759"/>
              </a:lnSpc>
            </a:pPr>
            <a:r>
              <a:rPr lang="en-US" sz="4800" b="1" dirty="0">
                <a:solidFill>
                  <a:srgbClr val="000000"/>
                </a:solidFill>
                <a:latin typeface="Times New Roman Bold"/>
                <a:ea typeface="Times New Roman Bold"/>
                <a:cs typeface="Times New Roman Bold"/>
                <a:sym typeface="Times New Roman Bold"/>
              </a:rPr>
              <a:t>FLOWCHART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E887-8122-806B-C8EC-A4C4097A81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E90B441-4059-B139-7A1C-1D0E87ADA9F7}"/>
              </a:ext>
            </a:extLst>
          </p:cNvPr>
          <p:cNvGrpSpPr/>
          <p:nvPr/>
        </p:nvGrpSpPr>
        <p:grpSpPr>
          <a:xfrm>
            <a:off x="126844" y="108318"/>
            <a:ext cx="18040483" cy="10070373"/>
            <a:chOff x="0" y="0"/>
            <a:chExt cx="24053978" cy="13427164"/>
          </a:xfrm>
        </p:grpSpPr>
        <p:sp>
          <p:nvSpPr>
            <p:cNvPr id="3" name="Freeform 3">
              <a:extLst>
                <a:ext uri="{FF2B5EF4-FFF2-40B4-BE49-F238E27FC236}">
                  <a16:creationId xmlns:a16="http://schemas.microsoft.com/office/drawing/2014/main" id="{BB40B96B-3B16-AAA9-7959-C45F77028C07}"/>
                </a:ext>
              </a:extLst>
            </p:cNvPr>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a:extLst>
              <a:ext uri="{FF2B5EF4-FFF2-40B4-BE49-F238E27FC236}">
                <a16:creationId xmlns:a16="http://schemas.microsoft.com/office/drawing/2014/main" id="{01E87D1D-AC7B-AF9D-1CD0-B189C529515E}"/>
              </a:ext>
            </a:extLst>
          </p:cNvPr>
          <p:cNvGrpSpPr/>
          <p:nvPr/>
        </p:nvGrpSpPr>
        <p:grpSpPr>
          <a:xfrm>
            <a:off x="16077133" y="191729"/>
            <a:ext cx="2004384" cy="811159"/>
            <a:chOff x="0" y="0"/>
            <a:chExt cx="2672512" cy="1081545"/>
          </a:xfrm>
        </p:grpSpPr>
        <p:sp>
          <p:nvSpPr>
            <p:cNvPr id="5" name="Freeform 5" descr="A picture containing text, clipart  Description automatically generated">
              <a:extLst>
                <a:ext uri="{FF2B5EF4-FFF2-40B4-BE49-F238E27FC236}">
                  <a16:creationId xmlns:a16="http://schemas.microsoft.com/office/drawing/2014/main" id="{D5C97B33-8E92-FE41-386C-BB97B7323C87}"/>
                </a:ext>
              </a:extLst>
            </p:cNvPr>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7" name="TextBox 7">
            <a:extLst>
              <a:ext uri="{FF2B5EF4-FFF2-40B4-BE49-F238E27FC236}">
                <a16:creationId xmlns:a16="http://schemas.microsoft.com/office/drawing/2014/main" id="{1A3CD3A7-5C9F-2383-1BB6-24C82655BAC6}"/>
              </a:ext>
            </a:extLst>
          </p:cNvPr>
          <p:cNvSpPr txBox="1"/>
          <p:nvPr/>
        </p:nvSpPr>
        <p:spPr>
          <a:xfrm>
            <a:off x="580330" y="974312"/>
            <a:ext cx="6353870" cy="702115"/>
          </a:xfrm>
          <a:prstGeom prst="rect">
            <a:avLst/>
          </a:prstGeom>
        </p:spPr>
        <p:txBody>
          <a:bodyPr wrap="square" lIns="0" tIns="0" rIns="0" bIns="0" rtlCol="0" anchor="t">
            <a:spAutoFit/>
          </a:bodyPr>
          <a:lstStyle/>
          <a:p>
            <a:pPr algn="l">
              <a:lnSpc>
                <a:spcPts val="5759"/>
              </a:lnSpc>
            </a:pPr>
            <a:r>
              <a:rPr lang="en-US" sz="4800" b="1" dirty="0">
                <a:solidFill>
                  <a:srgbClr val="000000"/>
                </a:solidFill>
                <a:latin typeface="Times New Roman Bold"/>
                <a:ea typeface="Times New Roman Bold"/>
                <a:cs typeface="Times New Roman Bold"/>
                <a:sym typeface="Times New Roman Bold"/>
              </a:rPr>
              <a:t>PERT CHART</a:t>
            </a:r>
          </a:p>
        </p:txBody>
      </p:sp>
      <p:pic>
        <p:nvPicPr>
          <p:cNvPr id="9" name="Picture 8">
            <a:extLst>
              <a:ext uri="{FF2B5EF4-FFF2-40B4-BE49-F238E27FC236}">
                <a16:creationId xmlns:a16="http://schemas.microsoft.com/office/drawing/2014/main" id="{C2FE8CF9-61B0-CC5D-9219-FC10DE288E2C}"/>
              </a:ext>
            </a:extLst>
          </p:cNvPr>
          <p:cNvPicPr>
            <a:picLocks noChangeAspect="1"/>
          </p:cNvPicPr>
          <p:nvPr/>
        </p:nvPicPr>
        <p:blipFill>
          <a:blip r:embed="rId3"/>
          <a:stretch>
            <a:fillRect/>
          </a:stretch>
        </p:blipFill>
        <p:spPr>
          <a:xfrm>
            <a:off x="268663" y="2857500"/>
            <a:ext cx="17750673" cy="3890167"/>
          </a:xfrm>
          <a:prstGeom prst="rect">
            <a:avLst/>
          </a:prstGeom>
        </p:spPr>
      </p:pic>
    </p:spTree>
    <p:extLst>
      <p:ext uri="{BB962C8B-B14F-4D97-AF65-F5344CB8AC3E}">
        <p14:creationId xmlns:p14="http://schemas.microsoft.com/office/powerpoint/2010/main" val="263358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1028700" y="974312"/>
            <a:ext cx="4132362" cy="7524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CONCLUSION</a:t>
            </a:r>
          </a:p>
        </p:txBody>
      </p:sp>
      <p:sp>
        <p:nvSpPr>
          <p:cNvPr id="7" name="TextBox 7"/>
          <p:cNvSpPr txBox="1"/>
          <p:nvPr/>
        </p:nvSpPr>
        <p:spPr>
          <a:xfrm>
            <a:off x="1348135" y="2371725"/>
            <a:ext cx="15248974" cy="6886575"/>
          </a:xfrm>
          <a:prstGeom prst="rect">
            <a:avLst/>
          </a:prstGeom>
        </p:spPr>
        <p:txBody>
          <a:bodyPr lIns="0" tIns="0" rIns="0" bIns="0" rtlCol="0" anchor="t">
            <a:spAutoFit/>
          </a:bodyPr>
          <a:lstStyle/>
          <a:p>
            <a:pPr algn="l">
              <a:lnSpc>
                <a:spcPts val="5400"/>
              </a:lnSpc>
              <a:spcBef>
                <a:spcPct val="0"/>
              </a:spcBef>
            </a:pPr>
            <a:r>
              <a:rPr lang="en-US" sz="4500">
                <a:solidFill>
                  <a:srgbClr val="000000"/>
                </a:solidFill>
                <a:latin typeface="Times New Roman"/>
                <a:ea typeface="Times New Roman"/>
                <a:cs typeface="Times New Roman"/>
                <a:sym typeface="Times New Roman"/>
              </a:rPr>
              <a:t>The </a:t>
            </a:r>
            <a:r>
              <a:rPr lang="en-US" sz="4500" b="1">
                <a:solidFill>
                  <a:srgbClr val="000000"/>
                </a:solidFill>
                <a:latin typeface="Times New Roman Bold"/>
                <a:ea typeface="Times New Roman Bold"/>
                <a:cs typeface="Times New Roman Bold"/>
                <a:sym typeface="Times New Roman Bold"/>
              </a:rPr>
              <a:t>EMERGENCE</a:t>
            </a:r>
            <a:r>
              <a:rPr lang="en-US" sz="4500">
                <a:solidFill>
                  <a:srgbClr val="000000"/>
                </a:solidFill>
                <a:latin typeface="Times New Roman"/>
                <a:ea typeface="Times New Roman"/>
                <a:cs typeface="Times New Roman"/>
                <a:sym typeface="Times New Roman"/>
              </a:rPr>
              <a:t> system demonstrates the feasibility of a fully automated, closed-loop educational intelligence system. By successfully integrating computer vision for non-intrusive monitoring, unsupervised learning for unbiased student profiling, and generative AI for instant curriculum customization, the project lays the groundwork for the next generation of smart classrooms. The current MVP validates the core architecture, proving that real-time behavioral data can effectively drive personalized learning outcomes.</a:t>
            </a:r>
          </a:p>
          <a:p>
            <a:pPr algn="l">
              <a:lnSpc>
                <a:spcPts val="5400"/>
              </a:lnSpc>
              <a:spcBef>
                <a:spcPct val="0"/>
              </a:spcBef>
            </a:pPr>
            <a:endParaRPr lang="en-US" sz="4500">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580330" y="511616"/>
            <a:ext cx="4098727" cy="752475"/>
          </a:xfrm>
          <a:prstGeom prst="rect">
            <a:avLst/>
          </a:prstGeom>
        </p:spPr>
        <p:txBody>
          <a:bodyPr lIns="0" tIns="0" rIns="0" bIns="0" rtlCol="0" anchor="t">
            <a:spAutoFit/>
          </a:bodyPr>
          <a:lstStyle/>
          <a:p>
            <a:pPr algn="l">
              <a:lnSpc>
                <a:spcPts val="5759"/>
              </a:lnSpc>
            </a:pPr>
            <a:r>
              <a:rPr lang="en-US" sz="4800" b="1">
                <a:solidFill>
                  <a:srgbClr val="000000"/>
                </a:solidFill>
                <a:latin typeface="Times New Roman Bold"/>
                <a:ea typeface="Times New Roman Bold"/>
                <a:cs typeface="Times New Roman Bold"/>
                <a:sym typeface="Times New Roman Bold"/>
              </a:rPr>
              <a:t>REFERENCES</a:t>
            </a:r>
          </a:p>
        </p:txBody>
      </p:sp>
      <p:sp>
        <p:nvSpPr>
          <p:cNvPr id="7" name="TextBox 7"/>
          <p:cNvSpPr txBox="1"/>
          <p:nvPr/>
        </p:nvSpPr>
        <p:spPr>
          <a:xfrm>
            <a:off x="822217" y="2435115"/>
            <a:ext cx="17465783" cy="6315075"/>
          </a:xfrm>
          <a:prstGeom prst="rect">
            <a:avLst/>
          </a:prstGeom>
        </p:spPr>
        <p:txBody>
          <a:bodyPr lIns="0" tIns="0" rIns="0" bIns="0" rtlCol="0" anchor="t">
            <a:spAutoFit/>
          </a:bodyPr>
          <a:lstStyle/>
          <a:p>
            <a:pPr algn="l">
              <a:lnSpc>
                <a:spcPts val="4560"/>
              </a:lnSpc>
            </a:pPr>
            <a:r>
              <a:rPr lang="en-US" sz="3800" b="1">
                <a:solidFill>
                  <a:srgbClr val="000000"/>
                </a:solidFill>
                <a:latin typeface="Times New Roman Bold"/>
                <a:ea typeface="Times New Roman Bold"/>
                <a:cs typeface="Times New Roman Bold"/>
                <a:sym typeface="Times New Roman Bold"/>
              </a:rPr>
              <a:t>YOLO</a:t>
            </a:r>
            <a:r>
              <a:rPr lang="en-US" sz="3800">
                <a:solidFill>
                  <a:srgbClr val="000000"/>
                </a:solidFill>
                <a:latin typeface="Times New Roman"/>
                <a:ea typeface="Times New Roman"/>
                <a:cs typeface="Times New Roman"/>
                <a:sym typeface="Times New Roman"/>
              </a:rPr>
              <a:t> </a:t>
            </a:r>
            <a:r>
              <a:rPr lang="en-US" sz="3800" b="1">
                <a:solidFill>
                  <a:srgbClr val="000000"/>
                </a:solidFill>
                <a:latin typeface="Times New Roman Bold"/>
                <a:ea typeface="Times New Roman Bold"/>
                <a:cs typeface="Times New Roman Bold"/>
                <a:sym typeface="Times New Roman Bold"/>
              </a:rPr>
              <a:t>(You Only Look Once)</a:t>
            </a:r>
            <a:r>
              <a:rPr lang="en-US" sz="3800">
                <a:solidFill>
                  <a:srgbClr val="000000"/>
                </a:solidFill>
                <a:latin typeface="Times New Roman"/>
                <a:ea typeface="Times New Roman"/>
                <a:cs typeface="Times New Roman"/>
                <a:sym typeface="Times New Roman"/>
              </a:rPr>
              <a:t>: Redmon, J., et al. "You Only Look Once: Unified, Real-Time Object Detection." CVPR, 2016.</a:t>
            </a:r>
          </a:p>
          <a:p>
            <a:pPr algn="l">
              <a:lnSpc>
                <a:spcPts val="4560"/>
              </a:lnSpc>
            </a:pPr>
            <a:r>
              <a:rPr lang="en-US" sz="3800" b="1">
                <a:solidFill>
                  <a:srgbClr val="000000"/>
                </a:solidFill>
                <a:latin typeface="Times New Roman Bold"/>
                <a:ea typeface="Times New Roman Bold"/>
                <a:cs typeface="Times New Roman Bold"/>
                <a:sym typeface="Times New Roman Bold"/>
              </a:rPr>
              <a:t>MediaPipe</a:t>
            </a:r>
            <a:r>
              <a:rPr lang="en-US" sz="3800">
                <a:solidFill>
                  <a:srgbClr val="000000"/>
                </a:solidFill>
                <a:latin typeface="Times New Roman"/>
                <a:ea typeface="Times New Roman"/>
                <a:cs typeface="Times New Roman"/>
                <a:sym typeface="Times New Roman"/>
              </a:rPr>
              <a:t>: Lugaresi, C., et al. "MediaPipe: A Framework for Building Perception Pipelines." arXiv preprint, 2019.</a:t>
            </a:r>
          </a:p>
          <a:p>
            <a:pPr algn="l">
              <a:lnSpc>
                <a:spcPts val="4560"/>
              </a:lnSpc>
            </a:pPr>
            <a:r>
              <a:rPr lang="en-US" sz="3800" b="1">
                <a:solidFill>
                  <a:srgbClr val="000000"/>
                </a:solidFill>
                <a:latin typeface="Times New Roman Bold"/>
                <a:ea typeface="Times New Roman Bold"/>
                <a:cs typeface="Times New Roman Bold"/>
                <a:sym typeface="Times New Roman Bold"/>
              </a:rPr>
              <a:t>Scikit-learn</a:t>
            </a:r>
            <a:r>
              <a:rPr lang="en-US" sz="3800">
                <a:solidFill>
                  <a:srgbClr val="000000"/>
                </a:solidFill>
                <a:latin typeface="Times New Roman"/>
                <a:ea typeface="Times New Roman"/>
                <a:cs typeface="Times New Roman"/>
                <a:sym typeface="Times New Roman"/>
              </a:rPr>
              <a:t>: Pedregosa, F., et al. "Scikit-learn: Machine Learning in Python." JMLR, 2011.</a:t>
            </a:r>
          </a:p>
          <a:p>
            <a:pPr algn="l">
              <a:lnSpc>
                <a:spcPts val="4560"/>
              </a:lnSpc>
            </a:pPr>
            <a:r>
              <a:rPr lang="en-US" sz="3800" b="1">
                <a:solidFill>
                  <a:srgbClr val="000000"/>
                </a:solidFill>
                <a:latin typeface="Times New Roman Bold"/>
                <a:ea typeface="Times New Roman Bold"/>
                <a:cs typeface="Times New Roman Bold"/>
                <a:sym typeface="Times New Roman Bold"/>
              </a:rPr>
              <a:t>Google Gemini</a:t>
            </a:r>
            <a:r>
              <a:rPr lang="en-US" sz="3800">
                <a:solidFill>
                  <a:srgbClr val="000000"/>
                </a:solidFill>
                <a:latin typeface="Times New Roman"/>
                <a:ea typeface="Times New Roman"/>
                <a:cs typeface="Times New Roman"/>
                <a:sym typeface="Times New Roman"/>
              </a:rPr>
              <a:t>: Google DeepMind. "Gemini: A Family of Highly Capable Multimodal Models." 2023.</a:t>
            </a:r>
          </a:p>
          <a:p>
            <a:pPr algn="l">
              <a:lnSpc>
                <a:spcPts val="4560"/>
              </a:lnSpc>
            </a:pPr>
            <a:r>
              <a:rPr lang="en-US" sz="3800" b="1">
                <a:solidFill>
                  <a:srgbClr val="000000"/>
                </a:solidFill>
                <a:latin typeface="Times New Roman Bold"/>
                <a:ea typeface="Times New Roman Bold"/>
                <a:cs typeface="Times New Roman Bold"/>
                <a:sym typeface="Times New Roman Bold"/>
              </a:rPr>
              <a:t>OpenCV</a:t>
            </a:r>
            <a:r>
              <a:rPr lang="en-US" sz="3800">
                <a:solidFill>
                  <a:srgbClr val="000000"/>
                </a:solidFill>
                <a:latin typeface="Times New Roman"/>
                <a:ea typeface="Times New Roman"/>
                <a:cs typeface="Times New Roman"/>
                <a:sym typeface="Times New Roman"/>
              </a:rPr>
              <a:t>: Bradski, G. "The OpenCV Library." Dr. Dobb's Journal of Software Tools, 2000.</a:t>
            </a:r>
          </a:p>
          <a:p>
            <a:pPr algn="l">
              <a:lnSpc>
                <a:spcPts val="4560"/>
              </a:lnSpc>
            </a:pPr>
            <a:endParaRPr lang="en-US" sz="3800">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844" y="108318"/>
            <a:ext cx="18040483" cy="10070373"/>
            <a:chOff x="0" y="0"/>
            <a:chExt cx="24053978" cy="13427164"/>
          </a:xfrm>
        </p:grpSpPr>
        <p:sp>
          <p:nvSpPr>
            <p:cNvPr id="3" name="Freeform 3"/>
            <p:cNvSpPr/>
            <p:nvPr/>
          </p:nvSpPr>
          <p:spPr>
            <a:xfrm>
              <a:off x="0" y="0"/>
              <a:ext cx="24053927" cy="13427202"/>
            </a:xfrm>
            <a:custGeom>
              <a:avLst/>
              <a:gdLst/>
              <a:ahLst/>
              <a:cxnLst/>
              <a:rect l="l" t="t" r="r" b="b"/>
              <a:pathLst>
                <a:path w="24053927" h="13427202">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txBody>
            <a:bodyPr/>
            <a:lstStyle/>
            <a:p>
              <a:endParaRPr lang="en-IN"/>
            </a:p>
          </p:txBody>
        </p:sp>
      </p:grpSp>
      <p:grpSp>
        <p:nvGrpSpPr>
          <p:cNvPr id="4" name="Group 4"/>
          <p:cNvGrpSpPr/>
          <p:nvPr/>
        </p:nvGrpSpPr>
        <p:grpSpPr>
          <a:xfrm>
            <a:off x="16077133" y="191729"/>
            <a:ext cx="2004384" cy="811159"/>
            <a:chOff x="0" y="0"/>
            <a:chExt cx="2672512" cy="1081545"/>
          </a:xfrm>
        </p:grpSpPr>
        <p:sp>
          <p:nvSpPr>
            <p:cNvPr id="5" name="Freeform 5" descr="A picture containing text, clipart  Description automatically generated"/>
            <p:cNvSpPr/>
            <p:nvPr/>
          </p:nvSpPr>
          <p:spPr>
            <a:xfrm>
              <a:off x="0" y="0"/>
              <a:ext cx="2672461" cy="1081532"/>
            </a:xfrm>
            <a:custGeom>
              <a:avLst/>
              <a:gdLst/>
              <a:ahLst/>
              <a:cxnLst/>
              <a:rect l="l" t="t" r="r" b="b"/>
              <a:pathLst>
                <a:path w="2672461" h="1081532">
                  <a:moveTo>
                    <a:pt x="0" y="0"/>
                  </a:moveTo>
                  <a:lnTo>
                    <a:pt x="2672461" y="0"/>
                  </a:lnTo>
                  <a:lnTo>
                    <a:pt x="2672461" y="1081532"/>
                  </a:lnTo>
                  <a:lnTo>
                    <a:pt x="0" y="1081532"/>
                  </a:lnTo>
                  <a:lnTo>
                    <a:pt x="0" y="0"/>
                  </a:lnTo>
                  <a:close/>
                </a:path>
              </a:pathLst>
            </a:custGeom>
            <a:blipFill>
              <a:blip r:embed="rId2"/>
              <a:stretch>
                <a:fillRect t="-14695" r="-8057" b="-2"/>
              </a:stretch>
            </a:blipFill>
          </p:spPr>
          <p:txBody>
            <a:bodyPr/>
            <a:lstStyle/>
            <a:p>
              <a:endParaRPr lang="en-IN"/>
            </a:p>
          </p:txBody>
        </p:sp>
      </p:grpSp>
      <p:sp>
        <p:nvSpPr>
          <p:cNvPr id="6" name="TextBox 6"/>
          <p:cNvSpPr txBox="1"/>
          <p:nvPr/>
        </p:nvSpPr>
        <p:spPr>
          <a:xfrm>
            <a:off x="2934376" y="5400342"/>
            <a:ext cx="12419238" cy="1756677"/>
          </a:xfrm>
          <a:prstGeom prst="rect">
            <a:avLst/>
          </a:prstGeom>
        </p:spPr>
        <p:txBody>
          <a:bodyPr lIns="0" tIns="0" rIns="0" bIns="0" rtlCol="0" anchor="t">
            <a:spAutoFit/>
          </a:bodyPr>
          <a:lstStyle/>
          <a:p>
            <a:pPr algn="ctr">
              <a:lnSpc>
                <a:spcPts val="12960"/>
              </a:lnSpc>
            </a:pPr>
            <a:r>
              <a:rPr lang="en-US" sz="10800" b="1">
                <a:solidFill>
                  <a:srgbClr val="46B0FA"/>
                </a:solidFill>
                <a:latin typeface="Arial Bold"/>
                <a:ea typeface="Arial Bold"/>
                <a:cs typeface="Arial Bold"/>
                <a:sym typeface="Arial Bold"/>
              </a:rPr>
              <a:t>Thank You</a:t>
            </a:r>
          </a:p>
        </p:txBody>
      </p:sp>
      <p:grpSp>
        <p:nvGrpSpPr>
          <p:cNvPr id="7" name="Group 7"/>
          <p:cNvGrpSpPr/>
          <p:nvPr/>
        </p:nvGrpSpPr>
        <p:grpSpPr>
          <a:xfrm>
            <a:off x="16002000" y="225704"/>
            <a:ext cx="2071868" cy="1024357"/>
            <a:chOff x="0" y="0"/>
            <a:chExt cx="2762491" cy="1365809"/>
          </a:xfrm>
        </p:grpSpPr>
        <p:sp>
          <p:nvSpPr>
            <p:cNvPr id="8" name="Freeform 8"/>
            <p:cNvSpPr/>
            <p:nvPr/>
          </p:nvSpPr>
          <p:spPr>
            <a:xfrm>
              <a:off x="0" y="0"/>
              <a:ext cx="2762504" cy="1365758"/>
            </a:xfrm>
            <a:custGeom>
              <a:avLst/>
              <a:gdLst/>
              <a:ahLst/>
              <a:cxnLst/>
              <a:rect l="l" t="t" r="r" b="b"/>
              <a:pathLst>
                <a:path w="2762504" h="1365758">
                  <a:moveTo>
                    <a:pt x="0" y="0"/>
                  </a:moveTo>
                  <a:lnTo>
                    <a:pt x="2762504" y="0"/>
                  </a:lnTo>
                  <a:lnTo>
                    <a:pt x="2762504" y="1365758"/>
                  </a:lnTo>
                  <a:lnTo>
                    <a:pt x="0" y="1365758"/>
                  </a:lnTo>
                  <a:close/>
                </a:path>
              </a:pathLst>
            </a:custGeom>
            <a:solidFill>
              <a:srgbClr val="FFFFFF"/>
            </a:solidFill>
          </p:spPr>
          <p:txBody>
            <a:bodyPr/>
            <a:lstStyle/>
            <a:p>
              <a:endParaRPr lang="en-IN"/>
            </a:p>
          </p:txBody>
        </p:sp>
      </p:grpSp>
      <p:grpSp>
        <p:nvGrpSpPr>
          <p:cNvPr id="9" name="Group 9"/>
          <p:cNvGrpSpPr/>
          <p:nvPr/>
        </p:nvGrpSpPr>
        <p:grpSpPr>
          <a:xfrm>
            <a:off x="5989320" y="2564978"/>
            <a:ext cx="6309360" cy="2710282"/>
            <a:chOff x="0" y="0"/>
            <a:chExt cx="8412480" cy="3613709"/>
          </a:xfrm>
        </p:grpSpPr>
        <p:sp>
          <p:nvSpPr>
            <p:cNvPr id="10" name="Freeform 10" descr="A picture containing text, clipart  Description automatically generated"/>
            <p:cNvSpPr/>
            <p:nvPr/>
          </p:nvSpPr>
          <p:spPr>
            <a:xfrm>
              <a:off x="0" y="0"/>
              <a:ext cx="8412480" cy="3613658"/>
            </a:xfrm>
            <a:custGeom>
              <a:avLst/>
              <a:gdLst/>
              <a:ahLst/>
              <a:cxnLst/>
              <a:rect l="l" t="t" r="r" b="b"/>
              <a:pathLst>
                <a:path w="8412480" h="3613658">
                  <a:moveTo>
                    <a:pt x="0" y="0"/>
                  </a:moveTo>
                  <a:lnTo>
                    <a:pt x="8412480" y="0"/>
                  </a:lnTo>
                  <a:lnTo>
                    <a:pt x="8412480" y="3613658"/>
                  </a:lnTo>
                  <a:lnTo>
                    <a:pt x="0" y="3613658"/>
                  </a:lnTo>
                  <a:lnTo>
                    <a:pt x="0" y="0"/>
                  </a:lnTo>
                  <a:close/>
                </a:path>
              </a:pathLst>
            </a:custGeom>
            <a:blipFill>
              <a:blip r:embed="rId2"/>
              <a:stretch>
                <a:fillRect b="-1"/>
              </a:stretch>
            </a:blipFill>
          </p:spPr>
          <p:txBody>
            <a:bodyPr/>
            <a:lstStyle/>
            <a:p>
              <a:endParaRPr lang="en-IN"/>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1512</Words>
  <Application>Microsoft Office PowerPoint</Application>
  <PresentationFormat>Custom</PresentationFormat>
  <Paragraphs>139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Times New Roman</vt:lpstr>
      <vt:lpstr>Arial Bold</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EMERGENCE- AN INTELLIGENT CLASSROOM LEARNING SYSTEM</dc:title>
  <cp:lastModifiedBy>MohitSumit® Bros.</cp:lastModifiedBy>
  <cp:revision>3</cp:revision>
  <dcterms:created xsi:type="dcterms:W3CDTF">2006-08-16T00:00:00Z</dcterms:created>
  <dcterms:modified xsi:type="dcterms:W3CDTF">2026-02-11T07:51:12Z</dcterms:modified>
  <dc:identifier>DAHA7Wqqm34</dc:identifier>
</cp:coreProperties>
</file>